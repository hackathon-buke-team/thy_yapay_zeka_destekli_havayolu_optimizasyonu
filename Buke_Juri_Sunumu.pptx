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0C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3"/>
    <p:restoredTop sz="94718"/>
  </p:normalViewPr>
  <p:slideViewPr>
    <p:cSldViewPr snapToGrid="0">
      <p:cViewPr varScale="1">
        <p:scale>
          <a:sx n="113" d="100"/>
          <a:sy n="113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4C28-20E0-1648-BABD-86B650DD0254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3A0F8-C839-C14C-97BD-C8CA6A3268D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7709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76F6-F28F-ECB3-7BD2-F99487BBB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D76AC-9A77-A002-D47D-4C4770107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E642D-F7C6-F4B7-79B9-E8CB36C6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38080-BA8E-5157-02AC-5E17B114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A14C5-C363-35F6-6B2E-5F6CF8D9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8673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6735-2102-902C-8F82-BDE5E489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6990-CE89-0585-7745-81D05A5F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4A666-C87B-9A2B-ED59-DF774C51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3DEB-767F-042D-2E74-0037F41A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0B3F5-AD5A-FA46-583C-CA023A2D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1446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387B-96EB-97AD-0D23-A1778DF9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B0EE4-3B61-82C0-881A-5067220D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95F80-0C2B-A103-2DC5-56F8D02B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10A0F-C536-2D78-C1EF-245B983F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1778-6753-2F3D-E61A-2D8098C0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6210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19DF-97FE-F954-C4A8-2F9A12C5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F999-A8D4-AC00-3A90-0BD2DA95B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44E9A-08CF-C74F-032F-6D45E0AFB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0056E-A562-B61E-9BB9-866CC2D0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1E2E6-1C61-F5DC-F33C-4E1E3757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3F6D0-69B5-2AA3-0232-1830FF11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4912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F14C-F764-0273-2DFF-823D605B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977E3-763D-712E-94FF-CA4C8C2C9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4C43-2498-7DCB-5CFE-4BB122D8C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B6D66-DBB0-400C-17F3-4B82AEB58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CD977-8493-AE62-7E51-9B93BA2C4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11FDB-87F6-A1AE-EA13-53149B74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2447C-8312-D184-A2AA-89826F38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5CBF3-C176-AFD9-AB5C-F786F47E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5696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3674-6A27-5881-CD01-03C7B325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AD575-5F9F-9F4F-370C-05B7A4AB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3311B-884D-9046-8104-9DE9F3A1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CC135-4750-7AAB-3ECC-77AE957F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163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F0657-96BA-B2A8-1B2C-CBC2C043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C89CB-AEA5-34F4-2482-98FC1F19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CDB20-DA2B-C835-D7D1-5FCDBB54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7459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7C071-7D82-D363-BF72-CA881D24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BA464-B6FA-70EA-E0AE-DDBCAF793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8F19A-6D14-942E-86A0-F4E89309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D6D73-910B-DAE3-1B50-33A08764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3B3E1-14E8-7A06-E8DE-CADE32E1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0DCB7-8EE8-F92C-DADA-3D243F3B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0565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7A3D-0127-42CB-F61C-281A8266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2DAA3-94EA-B96B-3D33-2031F0D5C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85C6F-B95E-B7BD-BCE1-1345B6883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14131-D30D-5ECB-B45A-8093FCE7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A93D1-BAC8-76B4-11A8-F5D356D4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10A37-9B33-A031-CD76-9CD63131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00742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FCD1-E08D-ACAE-87A1-76063B27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6C0C7-E393-2DB0-A673-26FD5EA47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A9F47-B0A2-5CCA-5EA5-D9085962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9AAA6-F9E3-8B3B-6F5D-EF8E0EF8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BA063-BC60-4E90-085A-E561EAC8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150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52B23C-0D67-5713-4DF6-78E39EEEF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596C9-1F2E-B401-7375-9C64442C8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28E5C-EE59-3EEF-8368-F46B807A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70C47-B2B6-D0C8-CF86-C3EEC9BD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DC49B-BE5E-B307-F01D-F8C4CE5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19058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8A5CABD-8762-ED9F-D599-63E9505AF7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9775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4" name="Resim Yer Tutucusu 2">
            <a:extLst>
              <a:ext uri="{FF2B5EF4-FFF2-40B4-BE49-F238E27FC236}">
                <a16:creationId xmlns:a16="http://schemas.microsoft.com/office/drawing/2014/main" id="{447087F2-4E12-C1BF-C25D-C27900AA90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46061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5" name="Resim Yer Tutucusu 2">
            <a:extLst>
              <a:ext uri="{FF2B5EF4-FFF2-40B4-BE49-F238E27FC236}">
                <a16:creationId xmlns:a16="http://schemas.microsoft.com/office/drawing/2014/main" id="{787FF2E2-C79C-FD55-6C8A-55973C7596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52347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6" name="Resim Yer Tutucusu 2">
            <a:extLst>
              <a:ext uri="{FF2B5EF4-FFF2-40B4-BE49-F238E27FC236}">
                <a16:creationId xmlns:a16="http://schemas.microsoft.com/office/drawing/2014/main" id="{079824B7-6B15-1464-353D-0418FAB75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09647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7" name="Resim Yer Tutucusu 2">
            <a:extLst>
              <a:ext uri="{FF2B5EF4-FFF2-40B4-BE49-F238E27FC236}">
                <a16:creationId xmlns:a16="http://schemas.microsoft.com/office/drawing/2014/main" id="{B7CD759E-F32B-A01B-1E7F-EA3ACEF80D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84523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8" name="Resim Yer Tutucusu 2">
            <a:extLst>
              <a:ext uri="{FF2B5EF4-FFF2-40B4-BE49-F238E27FC236}">
                <a16:creationId xmlns:a16="http://schemas.microsoft.com/office/drawing/2014/main" id="{957BC85A-22DD-0207-6C69-8C890E3562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59399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9" name="Resim Yer Tutucusu 2">
            <a:extLst>
              <a:ext uri="{FF2B5EF4-FFF2-40B4-BE49-F238E27FC236}">
                <a16:creationId xmlns:a16="http://schemas.microsoft.com/office/drawing/2014/main" id="{1EE668A7-483A-988E-824F-0F208ECA19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34275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Resim Yer Tutucusu 2">
            <a:extLst>
              <a:ext uri="{FF2B5EF4-FFF2-40B4-BE49-F238E27FC236}">
                <a16:creationId xmlns:a16="http://schemas.microsoft.com/office/drawing/2014/main" id="{71C896E9-F1F0-090F-164F-C8453E7174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9151" y="544513"/>
            <a:ext cx="1131888" cy="1681162"/>
          </a:xfrm>
        </p:spPr>
        <p:txBody>
          <a:bodyPr/>
          <a:lstStyle/>
          <a:p>
            <a:endParaRPr lang="tr-TR"/>
          </a:p>
        </p:txBody>
      </p:sp>
      <p:sp>
        <p:nvSpPr>
          <p:cNvPr id="11" name="Resim Yer Tutucusu 2">
            <a:extLst>
              <a:ext uri="{FF2B5EF4-FFF2-40B4-BE49-F238E27FC236}">
                <a16:creationId xmlns:a16="http://schemas.microsoft.com/office/drawing/2014/main" id="{3C2E32B2-D75A-82CA-C0CC-8F0D891D52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984027" y="544513"/>
            <a:ext cx="1131888" cy="1681162"/>
          </a:xfr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28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561B6-366B-3098-5988-067C31C5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3C44A-E187-5C91-642D-63E3CC110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CF92D-3B4C-EF39-4C41-EE2551F31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B76F3-27AE-8E4D-9E91-D79F5BA04FA3}" type="datetimeFigureOut">
              <a:rPr lang="en-TR" smtClean="0"/>
              <a:t>7.08.2026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0C329-0AA0-6C01-A222-76F6F85B0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7FCC5-2D85-91F6-76FB-EE1CC0D44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FC2F3-08C7-DA45-9F9D-E3C375DE782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013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A purple and blue light&#10;&#10;AI-generated content may be incorrect.">
            <a:extLst>
              <a:ext uri="{FF2B5EF4-FFF2-40B4-BE49-F238E27FC236}">
                <a16:creationId xmlns:a16="http://schemas.microsoft.com/office/drawing/2014/main" id="{9A726053-E06A-F99B-38E0-F975EC6482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18"/>
            <a:ext cx="12207186" cy="68494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6F5906-C7A1-5F4D-1A29-F030344743D8}"/>
              </a:ext>
            </a:extLst>
          </p:cNvPr>
          <p:cNvSpPr txBox="1"/>
          <p:nvPr/>
        </p:nvSpPr>
        <p:spPr>
          <a:xfrm>
            <a:off x="1069848" y="2907792"/>
            <a:ext cx="10058400" cy="105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000" dirty="0">
                <a:solidFill>
                  <a:schemeClr val="bg1"/>
                </a:solidFill>
                <a:latin typeface="Gilmer Bold" pitchFamily="2" charset="77"/>
              </a:rPr>
              <a:t>Tarife Planlamalarında Rakip Odaklı Ağ Optimizasyonu</a:t>
            </a:r>
            <a:endParaRPr lang="en-TR" sz="3200" dirty="0">
              <a:solidFill>
                <a:schemeClr val="bg1"/>
              </a:solidFill>
              <a:latin typeface="Gilmer Bold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2CF8F-18D2-505E-BDC4-C18AF536E5B3}"/>
              </a:ext>
            </a:extLst>
          </p:cNvPr>
          <p:cNvSpPr txBox="1"/>
          <p:nvPr/>
        </p:nvSpPr>
        <p:spPr>
          <a:xfrm>
            <a:off x="1527048" y="3785615"/>
            <a:ext cx="9144000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8D3E2"/>
                </a:solidFill>
                <a:latin typeface="Gilmer Light"/>
              </a:rPr>
              <a:t>TEKNOFEST · Yapay Zeka Destekli Havayolu Optimizasyonu — Final</a:t>
            </a:r>
            <a:endParaRPr lang="en-TR" sz="3200" dirty="0">
              <a:solidFill>
                <a:schemeClr val="bg1"/>
              </a:solidFill>
              <a:latin typeface="Gilmer Bold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93320-1F2B-5A05-E90E-C5508C603663}"/>
              </a:ext>
            </a:extLst>
          </p:cNvPr>
          <p:cNvSpPr txBox="1"/>
          <p:nvPr/>
        </p:nvSpPr>
        <p:spPr>
          <a:xfrm>
            <a:off x="3401568" y="4919472"/>
            <a:ext cx="5385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>
                <a:solidFill>
                  <a:schemeClr val="bg1"/>
                </a:solidFill>
                <a:latin typeface="Gilmer Light" pitchFamily="2" charset="77"/>
              </a:rPr>
              <a:t>Ağustos 2026</a:t>
            </a:r>
            <a:endParaRPr lang="en-TR" sz="1400" dirty="0">
              <a:solidFill>
                <a:schemeClr val="bg1"/>
              </a:solidFill>
              <a:latin typeface="Gilmer Light" pitchFamily="2" charset="77"/>
            </a:endParaRPr>
          </a:p>
        </p:txBody>
      </p:sp>
      <p:pic>
        <p:nvPicPr>
          <p:cNvPr id="7" name="Picture 6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77C04B77-6F23-36AB-8747-EF9D76B4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603" y="1789955"/>
            <a:ext cx="6612793" cy="865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215210-838E-A595-727C-21BC2308F6EA}"/>
              </a:ext>
            </a:extLst>
          </p:cNvPr>
          <p:cNvSpPr txBox="1"/>
          <p:nvPr/>
        </p:nvSpPr>
        <p:spPr>
          <a:xfrm>
            <a:off x="1527048" y="44439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sz="1500">
                <a:solidFill>
                  <a:schemeClr val="bg1"/>
                </a:solidFill>
                <a:latin typeface="Gilmer Bold" pitchFamily="2" charset="77"/>
              </a:rPr>
              <a:t>Takım Büke — </a:t>
            </a:r>
            <a:r>
              <a:rPr lang="tr-TR" dirty="0" err="1" sz="1500">
                <a:solidFill>
                  <a:schemeClr val="bg1"/>
                </a:solidFill>
                <a:latin typeface="Gilmer Light" pitchFamily="2" charset="77"/>
              </a:rPr>
              <a:t>Melih Ekizce · Mustafa Eren Işıktaşlı · Serhat Özdemir · Mert Arı</a:t>
            </a:r>
            <a:endParaRPr lang="en-TR" dirty="0">
              <a:solidFill>
                <a:schemeClr val="bg1"/>
              </a:solidFill>
              <a:latin typeface="Gilmer Bold" pitchFamily="2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C4D4"/>
                </a:solidFill>
                <a:latin typeface="Gilmer Medium"/>
              </a:rPr>
              <a:t>1/10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Problem: IST Aktarma Saatleriyle Rekabet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2/10</a:t>
            </a:r>
          </a:p>
        </p:txBody>
      </p:sp>
      <p:pic>
        <p:nvPicPr>
          <p:cNvPr id="9" name="Picture 8" descr="10_Uçuş__Plan__Takv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" y="822960"/>
            <a:ext cx="6400800" cy="6858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1C122F"/>
                </a:solidFill>
                <a:latin typeface="Gilmer Light"/>
              </a:rPr>
              <a:t>Yolcu çoğu pazarda direkt uçamaz; </a:t>
            </a:r>
            <a:r>
              <a:rPr sz="1250" b="0">
                <a:solidFill>
                  <a:srgbClr val="1C122F"/>
                </a:solidFill>
                <a:latin typeface="Gilmer Medium"/>
              </a:rPr>
              <a:t>hub üzerinden aktarır.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122F"/>
                </a:solidFill>
                <a:latin typeface="Gilmer Light"/>
              </a:rPr>
              <a:t>Aynı yolcuyu FRA · DOH · DXB hub'lı rakipler de taşır — kazanan, </a:t>
            </a:r>
            <a:r>
              <a:rPr sz="1250" b="0">
                <a:solidFill>
                  <a:srgbClr val="1C122F"/>
                </a:solidFill>
                <a:latin typeface="Gilmer Medium"/>
              </a:rPr>
              <a:t>toplam süresi J kısa olandır.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810512"/>
            <a:ext cx="148132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0035D7"/>
                </a:solidFill>
                <a:latin typeface="Gilmer Bold"/>
              </a:rPr>
              <a:t>VCE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Venedik — gelen bacak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810512"/>
            <a:ext cx="148132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CD2028"/>
                </a:solidFill>
                <a:latin typeface="Gilmer Bold"/>
              </a:rPr>
              <a:t>IST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aktarma boşluğu 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10512"/>
            <a:ext cx="148132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0035D7"/>
                </a:solidFill>
                <a:latin typeface="Gilmer Bold"/>
              </a:rPr>
              <a:t>JED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Cidde — giden bacak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911096" y="2084831"/>
            <a:ext cx="950976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9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37944" y="2340864"/>
            <a:ext cx="1133856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78"/>
                </a:solidFill>
                <a:latin typeface="Gilmer Light"/>
              </a:rPr>
              <a:t>E₁ sabit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379976" y="2084831"/>
            <a:ext cx="950976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9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2340864"/>
            <a:ext cx="1133856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78"/>
                </a:solidFill>
                <a:latin typeface="Gilmer Light"/>
              </a:rPr>
              <a:t>E₂ sabit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852928"/>
            <a:ext cx="6419088" cy="475488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22F"/>
                </a:solidFill>
                <a:latin typeface="Consolas"/>
              </a:rPr>
              <a:t>J = E₁ + g + E₂      </a:t>
            </a:r>
            <a:r>
              <a:rPr sz="1100" b="0">
                <a:solidFill>
                  <a:srgbClr val="1C1C51"/>
                </a:solidFill>
                <a:latin typeface="Gilmer Light"/>
              </a:rPr>
              <a:t>bloklar sabit → tek kaldıraç IST kalkış/varış saatleri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474720"/>
            <a:ext cx="6419088" cy="475488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5D7"/>
                </a:solidFill>
                <a:latin typeface="Consolas"/>
              </a:rPr>
              <a:t>İyi bağlantı: 60 ≤ g ≤ 300 dk   </a:t>
            </a:r>
            <a:r>
              <a:rPr sz="1100" b="0">
                <a:solidFill>
                  <a:srgbClr val="1C1C51"/>
                </a:solidFill>
                <a:latin typeface="Gilmer Light"/>
              </a:rPr>
              <a:t>altı bagaj yetişmez · üstü yolcuya cazip değil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24528"/>
            <a:ext cx="6419088" cy="21031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122F"/>
                </a:solidFill>
                <a:latin typeface="Gilmer Medium"/>
              </a:rPr>
              <a:t>Ne olursa kazanırız?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C122F"/>
                </a:solidFill>
                <a:latin typeface="Gilmer Light"/>
              </a:rPr>
              <a:t>•  Uygun boşluklu yeni bağlantılar açılır → pazar başına sunum artar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C122F"/>
                </a:solidFill>
                <a:latin typeface="Gilmer Light"/>
              </a:rPr>
              <a:t>•  Toplam J rakibin süresinin altına iner → pazar sıralaması yükselir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122F"/>
                </a:solidFill>
                <a:latin typeface="Gilmer Light"/>
              </a:rPr>
              <a:t>•  Bunlar gelir potansiyeli ρ ile ağırlıklanır → önce değerli pazarlar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841248"/>
            <a:ext cx="4901184" cy="1261872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0035D7"/>
                </a:solidFill>
                <a:latin typeface="Gilmer Bold"/>
              </a:rPr>
              <a:t>KARAR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C122F"/>
                </a:solidFill>
                <a:latin typeface="Gilmer Bold"/>
              </a:rPr>
              <a:t>4 554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ayarlanabilir uçuş hareketinin IST saati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78"/>
                </a:solidFill>
                <a:latin typeface="Gilmer Light"/>
              </a:rPr>
              <a:t>±60 dk pencere · 10 dakikalık kova ızgarası · sabit uçuşlar yerinde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67728" y="841248"/>
            <a:ext cx="45720" cy="1261872"/>
          </a:xfrm>
          <a:prstGeom prst="roundRect">
            <a:avLst>
              <a:gd name="adj" fmla="val 50000"/>
            </a:avLst>
          </a:prstGeom>
          <a:solidFill>
            <a:srgbClr val="003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67728" y="2395728"/>
            <a:ext cx="4901184" cy="1554480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CD2028"/>
                </a:solidFill>
                <a:latin typeface="Gilmer Bold"/>
              </a:rPr>
              <a:t>AMAÇ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C122F"/>
                </a:solidFill>
                <a:latin typeface="Consolas"/>
              </a:rPr>
              <a:t>max  Σ ρ_od · ( bağlantı ödülü + sıralama ödülü 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78"/>
                </a:solidFill>
                <a:latin typeface="Gilmer Light"/>
              </a:rPr>
              <a:t>Gelir-ağırlıklı rekabetçilik: amaç çok uçuş kaydırmak değil, doğru pazarlarda daha çok ve rakipten hızlı bağlantı sunmaktır.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67728" y="2395728"/>
            <a:ext cx="45720" cy="1554480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67728" y="4242816"/>
            <a:ext cx="4901184" cy="1792224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E55A0"/>
                </a:solidFill>
                <a:latin typeface="Gilmer Bold"/>
              </a:rPr>
              <a:t>ZORLUK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E6A78"/>
                </a:solidFill>
                <a:latin typeface="Gilmer Light"/>
              </a:rPr>
              <a:t>Saatler; uçak rotasyonu, hub kapasitesi, yön dengesi ve tarife düzenliliği bozulmadan kaymalı — kısıt ihlali diskalifiye.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78"/>
                </a:solidFill>
                <a:latin typeface="Gilmer Light"/>
              </a:rPr>
              <a:t>Rakip tarifeleri sabit ve bilinir; tek oyunculu, tam bilgili bir ağ tasarımı problemi.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7728" y="4242816"/>
            <a:ext cx="45720" cy="1792224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Veri: Ölçek, Temizlik ve İlkeler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3/10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841248"/>
            <a:ext cx="1833372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0035D7"/>
                </a:solidFill>
                <a:latin typeface="Gilmer Bold"/>
              </a:rPr>
              <a:t>57 317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bağlantı tablosu satırı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3140" y="841248"/>
            <a:ext cx="1833372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0035D7"/>
                </a:solidFill>
                <a:latin typeface="Gilmer Bold"/>
              </a:rPr>
              <a:t>8 075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yolcu-ρ kaydı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841248"/>
            <a:ext cx="1833372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1C1C51"/>
                </a:solidFill>
                <a:latin typeface="Gilmer Bold"/>
              </a:rPr>
              <a:t>1 408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yönlü O–D pazarı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841248"/>
            <a:ext cx="1833372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1C1C51"/>
                </a:solidFill>
                <a:latin typeface="Gilmer Bold"/>
              </a:rPr>
              <a:t>7 693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aday aktarma bağlantısı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841248"/>
            <a:ext cx="1833372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9E55A0"/>
                </a:solidFill>
                <a:latin typeface="Gilmer Bold"/>
              </a:rPr>
              <a:t>4 554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ayarlanabilir hareket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35540" y="841248"/>
            <a:ext cx="1833372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>
                <a:solidFill>
                  <a:srgbClr val="CD2028"/>
                </a:solidFill>
                <a:latin typeface="Gilmer Bold"/>
              </a:rPr>
              <a:t>~100 552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ikili karar değişkeni</a:t>
            </a:r>
          </a:p>
        </p:txBody>
      </p:sp>
      <p:pic>
        <p:nvPicPr>
          <p:cNvPr id="15" name="Picture 14" descr="03_Araştırmalar__Analiz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29968"/>
            <a:ext cx="290547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0315" y="2048256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22F"/>
                </a:solidFill>
                <a:latin typeface="Gilmer Medium"/>
              </a:rPr>
              <a:t>“Minimal + Belgeli” veri politikası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487168"/>
            <a:ext cx="5705856" cy="2834640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C122F"/>
                </a:solidFill>
                <a:latin typeface="Gilmer Medium"/>
              </a:rPr>
              <a:t>•  Orijinale dokunma:</a:t>
            </a:r>
            <a:r>
              <a:rPr sz="1200" b="0">
                <a:solidFill>
                  <a:srgbClr val="1C122F"/>
                </a:solidFill>
                <a:latin typeface="Gilmer Light"/>
              </a:rPr>
              <a:t> yarışma Excel'lerine asla yazılmaz; tüm türetimler derived/ katmanında.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C122F"/>
                </a:solidFill>
                <a:latin typeface="Gilmer Medium"/>
              </a:rPr>
              <a:t>•  Değer uydurma yok:</a:t>
            </a:r>
            <a:r>
              <a:rPr sz="1200" b="0">
                <a:solidFill>
                  <a:srgbClr val="1C122F"/>
                </a:solidFill>
                <a:latin typeface="Gilmer Light"/>
              </a:rPr>
              <a:t> ρ'su olmayan 48 pazar modele katılmaz; partnersiz 176 TK uçuşu sabitlenir.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C122F"/>
                </a:solidFill>
                <a:latin typeface="Gilmer Medium"/>
              </a:rPr>
              <a:t>•  Her dönüşüm kayıtlı:</a:t>
            </a:r>
            <a:r>
              <a:rPr sz="1200" b="0">
                <a:solidFill>
                  <a:srgbClr val="1C122F"/>
                </a:solidFill>
                <a:latin typeface="Gilmer Light"/>
              </a:rPr>
              <a:t> transform_log.md — hafta normalizasyonu 5 604 → 5 474 olay; özdeş aday tekilleştirme 7 850 → 7 693.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1C122F"/>
                </a:solidFill>
                <a:latin typeface="Gilmer Medium"/>
              </a:rPr>
              <a:t>•  J kesin hesap:</a:t>
            </a:r>
            <a:r>
              <a:rPr sz="1200" b="0">
                <a:solidFill>
                  <a:srgbClr val="1C122F"/>
                </a:solidFill>
                <a:latin typeface="Gilmer Light"/>
              </a:rPr>
              <a:t> güncellenmiş ElapsedTime ile J = E₁ + g + E₂; 24 saat sarma belirsizliği yok, 495 uzun itinerary doğru işlenir.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048256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22F"/>
                </a:solidFill>
                <a:latin typeface="Gilmer Medium"/>
              </a:rPr>
              <a:t>Denetlenebilir hat neyi yakaladı?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2487168"/>
            <a:ext cx="5477256" cy="233172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Medium"/>
              </a:rPr>
              <a:t>✓  Çift ödül riski:</a:t>
            </a:r>
            <a:r>
              <a:rPr sz="1100" b="0">
                <a:solidFill>
                  <a:srgbClr val="1C122F"/>
                </a:solidFill>
                <a:latin typeface="Gilmer Light"/>
              </a:rPr>
              <a:t> özdeş aday satırları aynı bağlantıyı iki kez ödüllendiriyordu → tekilleştirildi.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Medium"/>
              </a:rPr>
              <a:t>✓  Hafta kopyası:</a:t>
            </a:r>
            <a:r>
              <a:rPr sz="1100" b="0">
                <a:solidFill>
                  <a:srgbClr val="1C122F"/>
                </a:solidFill>
                <a:latin typeface="Gilmer Light"/>
              </a:rPr>
              <a:t> aynı fiziksel uçuşa iki farklı saat atanabiliyordu → kanonik haftaya indirgendi.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Medium"/>
              </a:rPr>
              <a:t>✓  F kapsam eksiği:</a:t>
            </a:r>
            <a:r>
              <a:rPr sz="1100" b="0">
                <a:solidFill>
                  <a:srgbClr val="1C122F"/>
                </a:solidFill>
                <a:latin typeface="Gilmer Light"/>
              </a:rPr>
              <a:t> amaç dışı TK uçuşları kovaları dolduruyor ama sayılmıyordu → tümü sabit doluluk olarak modele girdi.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656" y="4974336"/>
            <a:ext cx="5477256" cy="1060704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2028"/>
                </a:solidFill>
                <a:latin typeface="Gilmer Medium"/>
              </a:rPr>
              <a:t>Bilinen veri sınırı — </a:t>
            </a:r>
            <a:r>
              <a:rPr sz="1100" b="0">
                <a:solidFill>
                  <a:srgbClr val="1C122F"/>
                </a:solidFill>
                <a:latin typeface="Gilmer Light"/>
              </a:rPr>
              <a:t>Flight Pairs W26 sezonu, tarife Ağustos 2025: 221 uçuşta rotasyon kısıtı kurulamaz. Model hatası değil; preaudit'te belgeli.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Matematiksel Model: Karar, Amaç ve A–G Kısıtları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932688"/>
            <a:ext cx="5074920" cy="1426464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C51"/>
                </a:solidFill>
                <a:latin typeface="Gilmer Bold"/>
              </a:rPr>
              <a:t>KARAR DEĞİŞKENLERİ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</a:pPr>
            <a:r>
              <a:rPr sz="1150" b="1">
                <a:solidFill>
                  <a:srgbClr val="0035D7"/>
                </a:solidFill>
                <a:latin typeface="Consolas"/>
              </a:rPr>
              <a:t>x[r,t] ∈ {0,1}</a:t>
            </a:r>
            <a:r>
              <a:rPr sz="1050" b="0">
                <a:solidFill>
                  <a:srgbClr val="1C122F"/>
                </a:solidFill>
                <a:latin typeface="Gilmer Light"/>
              </a:rPr>
              <a:t>  uçuş örneği r, 10 dk'lık kova t'ye atanır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</a:pPr>
            <a:r>
              <a:rPr sz="1150" b="1">
                <a:solidFill>
                  <a:srgbClr val="0035D7"/>
                </a:solidFill>
                <a:latin typeface="Consolas"/>
              </a:rPr>
              <a:t>y[π] ∈ {0,1}</a:t>
            </a:r>
            <a:r>
              <a:rPr sz="1050" b="0">
                <a:solidFill>
                  <a:srgbClr val="1C122F"/>
                </a:solidFill>
                <a:latin typeface="Gilmer Light"/>
              </a:rPr>
              <a:t>  aday aktarma bağlantısı π pazara sunulur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</a:pPr>
            <a:r>
              <a:rPr sz="1150" b="1">
                <a:solidFill>
                  <a:srgbClr val="0035D7"/>
                </a:solidFill>
                <a:latin typeface="Consolas"/>
              </a:rPr>
              <a:t>z · w · β · γ</a:t>
            </a:r>
            <a:r>
              <a:rPr sz="1050" b="0">
                <a:solidFill>
                  <a:srgbClr val="1C122F"/>
                </a:solidFill>
                <a:latin typeface="Gilmer Light"/>
              </a:rPr>
              <a:t>  azalan-getiri slotları ile rakip yenme / sıralama seçicileri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932688"/>
            <a:ext cx="6291072" cy="1426464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AMAÇ FONKSİYONU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22F"/>
                </a:solidFill>
                <a:latin typeface="Consolas"/>
              </a:rPr>
              <a:t>max  Σ ρ_od [ Σ Wᶜⱼ·z  +  Σ Wʳ·γ ]  −  λ·Σ |θ_r − cur_r|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22F"/>
                </a:solidFill>
                <a:latin typeface="Gilmer Light"/>
              </a:rPr>
              <a:t>Brief'in resmi rekabetçilik amacı </a:t>
            </a:r>
            <a:r>
              <a:rPr sz="1050" b="0">
                <a:solidFill>
                  <a:srgbClr val="1C122F"/>
                </a:solidFill>
                <a:latin typeface="Gilmer Medium"/>
              </a:rPr>
              <a:t>+ operasyonel kesinti cezamız (λ=0.3).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Raporlanan iyileşme her zaman cezasız (saf) ölçülür.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122F"/>
                </a:solidFill>
                <a:latin typeface="Gilmer Medium"/>
              </a:rPr>
              <a:t>Yedi kısıt ailesi — brief'te “ne sağlanmalı”, bizde doğrusal MIP: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980944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A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Rotasyon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brief-exact min. tur süresi; gece-aşan turlar dahil — 1 709 tur, yeni ihlal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8980" y="2980944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B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Boşluk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y=1 ⇒ g ∈ [60, 300] dk; g saat farkından türetilir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80944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E55A0"/>
                </a:solidFill>
                <a:latin typeface="Gilmer Bold"/>
              </a:rPr>
              <a:t>C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Azalan getiri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bağlantı ödülü 1, ½, ¼… — monoton slot, LP'yi sıkar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6860" y="2980944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E55A0"/>
                </a:solidFill>
                <a:latin typeface="Gilmer Bold"/>
              </a:rPr>
              <a:t>D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Rakip yenme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J ≤ T_comp ⇒ sıralama ödülü; ön-işlemeyle 3 durum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059935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C1C51"/>
                </a:solidFill>
                <a:latin typeface="Gilmer Bold"/>
              </a:rPr>
              <a:t>E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Yön dengesi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|n_od − n_do| ≤ %20 — 2 001 çift, ihlal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8980" y="4059935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C1C51"/>
                </a:solidFill>
                <a:latin typeface="Gilmer Bold"/>
              </a:rPr>
              <a:t>F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IST kapasitesi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kova başına 10 kalkış / 15 varış; tüm TK uçuşları sayılır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59935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D2028"/>
                </a:solidFill>
                <a:latin typeface="Gilmer Bold"/>
              </a:rPr>
              <a:t>G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Düzenlilik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aynı sefer günler arası ±15 dk; ilk-gün çapası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6860" y="4059935"/>
            <a:ext cx="2843784" cy="950976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CD2028"/>
                </a:solidFill>
                <a:latin typeface="Gilmer Bold"/>
              </a:rPr>
              <a:t>Sıkılık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6A78"/>
                </a:solidFill>
                <a:latin typeface="Gilmer Light"/>
              </a:rPr>
              <a:t>yön-yerel büyük-M · ön-işlemeyle M'siz yenme · M'siz ceza terimi · monoton slot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48656"/>
            <a:ext cx="11548872" cy="512064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51"/>
                </a:solidFill>
                <a:latin typeface="Gilmer Medium"/>
              </a:rPr>
              <a:t>Kısıt H (slot pencereleri):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brief'in A–G listesinde ve veride yok → bilinçli dahil edilmedi; veri gelirse 𝒯 kümesi daraltılarak eklenir.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Çözüm Stratejisi: İki Aşamalı MIP Hattı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5/10</a:t>
            </a:r>
          </a:p>
        </p:txBody>
      </p:sp>
      <p:pic>
        <p:nvPicPr>
          <p:cNvPr id="9" name="Picture 8" descr="12_Strate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31321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84" y="859536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D2028"/>
                </a:solidFill>
                <a:latin typeface="Gilmer Medium"/>
              </a:rPr>
              <a:t>Zorluk: </a:t>
            </a:r>
            <a:r>
              <a:rPr sz="1250" b="0">
                <a:solidFill>
                  <a:srgbClr val="1C122F"/>
                </a:solidFill>
                <a:latin typeface="Gilmer Light"/>
              </a:rPr>
              <a:t>tek parça 7 günlük MIP (~100 bin ikili) soğuk başlangıçla 600 sn'de çözüm (incumbent) bile bulamıyor.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517904"/>
            <a:ext cx="3584448" cy="164592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035D7"/>
                </a:solidFill>
                <a:latin typeface="Gilmer Bold"/>
              </a:rPr>
              <a:t>AŞAMA 1 — Güne Ayrıştırma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1C122F"/>
                </a:solidFill>
                <a:latin typeface="Gilmer Medium"/>
              </a:rPr>
              <a:t>Gözlem: günleri bağlayan tek kısıt 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1C122F"/>
                </a:solidFill>
                <a:latin typeface="Gilmer Light"/>
              </a:rPr>
              <a:t>7 ayrı MIP (~17 bin ikili) art arda; G bandı önceki günlerden taşınır.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0035D7"/>
                </a:solidFill>
                <a:latin typeface="Gilmer Medium"/>
              </a:rPr>
              <a:t>~1,5 dakika · gün-içi gap ≤ %0,1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517904"/>
            <a:ext cx="45720" cy="1645920"/>
          </a:xfrm>
          <a:prstGeom prst="roundRect">
            <a:avLst>
              <a:gd name="adj" fmla="val 50000"/>
            </a:avLst>
          </a:prstGeom>
          <a:solidFill>
            <a:srgbClr val="003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3954779" y="2176272"/>
            <a:ext cx="292608" cy="329184"/>
          </a:xfrm>
          <a:prstGeom prst="rightArrow">
            <a:avLst/>
          </a:prstGeom>
          <a:solidFill>
            <a:srgbClr val="C9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1517904"/>
            <a:ext cx="3584448" cy="1645920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9E55A0"/>
                </a:solidFill>
                <a:latin typeface="Gilmer Bold"/>
              </a:rPr>
              <a:t>AŞAMA 2 — Tam-Hafta Cilalama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1C122F"/>
                </a:solidFill>
                <a:latin typeface="Gilmer Medium"/>
              </a:rPr>
              <a:t>Aşama-1 çözümü MIP-start olarak verilir.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1C122F"/>
                </a:solidFill>
                <a:latin typeface="Gilmer Light"/>
              </a:rPr>
              <a:t>100 552 ikili tek model; ≤ 30 dk branch-and-bound.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9E55A0"/>
                </a:solidFill>
                <a:latin typeface="Gilmer Medium"/>
              </a:rPr>
              <a:t>küresel gap %1,18 · +14 752 ek puan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517904"/>
            <a:ext cx="45720" cy="1645920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923275" y="2176272"/>
            <a:ext cx="292608" cy="329184"/>
          </a:xfrm>
          <a:prstGeom prst="rightArrow">
            <a:avLst/>
          </a:prstGeom>
          <a:solidFill>
            <a:srgbClr val="C9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1517904"/>
            <a:ext cx="3584448" cy="1645920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CD2028"/>
                </a:solidFill>
                <a:latin typeface="Gilmer Bold"/>
              </a:rPr>
              <a:t>BAĞIMSIZ DOĞRULAYICI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1C122F"/>
                </a:solidFill>
                <a:latin typeface="Gilmer Medium"/>
              </a:rPr>
              <a:t>Çıktı, üreten koddan bağımsız yeniden hesaplanır.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1C122F"/>
                </a:solidFill>
                <a:latin typeface="Gilmer Light"/>
              </a:rPr>
              <a:t>18 kontrol; herhangi biri FAIL ise koşu durur.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CD2028"/>
                </a:solidFill>
                <a:latin typeface="Gilmer Medium"/>
              </a:rPr>
              <a:t>çift bariyer: iyileşme yoksa aşama-1 kalır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1" y="1517904"/>
            <a:ext cx="45720" cy="1645920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493008"/>
            <a:ext cx="6784848" cy="1938528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C1C51"/>
                </a:solidFill>
                <a:latin typeface="Gilmer Bold"/>
              </a:rPr>
              <a:t>NEDEN HiGHS? (Gurobi/CPLEX değil)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C122F"/>
                </a:solidFill>
                <a:latin typeface="Gilmer Medium"/>
              </a:rPr>
              <a:t>•  Açık kaynak: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lisans riski yok — jüri dahil her makinede koşar (brief'te açıkça izinli).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C122F"/>
                </a:solidFill>
                <a:latin typeface="Gilmer Medium"/>
              </a:rPr>
              <a:t>•  Deterministik: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threads=1, random_seed=0; aşama-1 aynı girdiyle byte-byte aynı çıktı.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C122F"/>
                </a:solidFill>
                <a:latin typeface="Gilmer Medium"/>
              </a:rPr>
              <a:t>•  Performans: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açığı ticari çözücüyle değil, sıkı formülasyon + ayrıştırma + MIP-start ile kapattık.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493008"/>
            <a:ext cx="4553712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C122F"/>
                </a:solidFill>
                <a:latin typeface="Gilmer Bold"/>
              </a:rPr>
              <a:t>TEK KOMUT, UÇTAN UCA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0035D7"/>
                </a:solidFill>
                <a:latin typeface="Consolas"/>
              </a:rPr>
              <a:t>python run_all.py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veri sağlığı → hazırlık → aşama 1–2 → doğrulama → figürler → rapor  (~35–40 dk)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2028"/>
                </a:solidFill>
                <a:latin typeface="Gilmer Medium"/>
              </a:rPr>
              <a:t>Doğrulayıcı FAIL verirse koşu kendini durdurur.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614416"/>
            <a:ext cx="11548872" cy="512064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35D7"/>
                </a:solidFill>
                <a:latin typeface="Gilmer Medium"/>
              </a:rPr>
              <a:t>Teslim çıktıları: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optimized_schedule.csv · market_results.csv · selected_connections.csv · results_summary.pdf — istenen formata birebir.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Yenilikler: λ Cezası, MIP-Start Cilalama, Çift-Kayıt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6/10</a:t>
            </a:r>
          </a:p>
        </p:txBody>
      </p:sp>
      <p:pic>
        <p:nvPicPr>
          <p:cNvPr id="9" name="Picture 8" descr="fig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9264"/>
            <a:ext cx="6400800" cy="30319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078224"/>
            <a:ext cx="6400800" cy="566928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78"/>
                </a:solidFill>
                <a:latin typeface="Gilmer Medium"/>
              </a:rPr>
              <a:t>λ taraması (aşama-1):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ceza yalnız kaydırmayı kısmaz; simetriyi kırarak kazanımı da yükseltir. λ=0.3 “diz” noktasıdır.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932688"/>
            <a:ext cx="4901184" cy="1773936"/>
          </a:xfrm>
          <a:prstGeom prst="roundRect">
            <a:avLst>
              <a:gd name="adj" fmla="val 5500"/>
            </a:avLst>
          </a:prstGeom>
          <a:solidFill>
            <a:srgbClr val="FB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D2028"/>
                </a:solidFill>
                <a:latin typeface="Gilmer Bold"/>
              </a:rPr>
              <a:t>1 · TARİFE-DEĞİŞİM CEZASI (BÜYÜK-M'SİZ)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22F"/>
                </a:solidFill>
                <a:latin typeface="Consolas"/>
              </a:rPr>
              <a:t>|θ−cur| = Σ |t−cur|·x — ek değişken yok.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22F"/>
                </a:solidFill>
                <a:latin typeface="Gilmer Medium"/>
              </a:rPr>
              <a:t>Kaydırma %92 → %25'e iner, kazanım %3,89 → %4,32'ye çıkar (aşama-1 taraması).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Nihai çözümde: %23 · 1 067 hareket · ort. 19 dk.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932688"/>
            <a:ext cx="45720" cy="1773936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67728" y="2871216"/>
            <a:ext cx="4901184" cy="146304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2 · TAM-HAFTA MIP-START CİLALAMA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22F"/>
                </a:solidFill>
                <a:latin typeface="Gilmer Light"/>
              </a:rPr>
              <a:t>Hızlı ayrıştırma + küresel kanıt birlikte: </a:t>
            </a:r>
            <a:r>
              <a:rPr sz="1050" b="0">
                <a:solidFill>
                  <a:srgbClr val="1C122F"/>
                </a:solidFill>
                <a:latin typeface="Gilmer Medium"/>
              </a:rPr>
              <a:t>+14 752 ek puan ve %1,18 gap.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 “İyi sezgisel” değil, kanıtlı yakın-optimum.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2871216"/>
            <a:ext cx="45720" cy="1463040"/>
          </a:xfrm>
          <a:prstGeom prst="roundRect">
            <a:avLst>
              <a:gd name="adj" fmla="val 50000"/>
            </a:avLst>
          </a:prstGeom>
          <a:solidFill>
            <a:srgbClr val="003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67728" y="4498848"/>
            <a:ext cx="4901184" cy="1463040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E55A0"/>
                </a:solidFill>
                <a:latin typeface="Gilmer Bold"/>
              </a:rPr>
              <a:t>3 · ÇİFT-KAYIT DOĞRULAMA KÜLTÜRÜ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22F"/>
                </a:solidFill>
                <a:latin typeface="Gilmer Light"/>
              </a:rPr>
              <a:t>Muhasebedeki çift kayıt gibi: çözüm, üreten koddan bağımsız yeniden hesaplanır; </a:t>
            </a:r>
            <a:r>
              <a:rPr sz="1050" b="0">
                <a:solidFill>
                  <a:srgbClr val="1C122F"/>
                </a:solidFill>
                <a:latin typeface="Gilmer Medium"/>
              </a:rPr>
              <a:t>preaudit kendi skorumuzu da eleştirir.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498848"/>
            <a:ext cx="45720" cy="1463040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4846320"/>
            <a:ext cx="6400800" cy="658368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51"/>
                </a:solidFill>
                <a:latin typeface="Gilmer Medium"/>
              </a:rPr>
              <a:t>Nihai çözüm: </a:t>
            </a:r>
            <a:r>
              <a:rPr sz="1100" b="0">
                <a:solidFill>
                  <a:srgbClr val="6E6A78"/>
                </a:solidFill>
                <a:latin typeface="Gilmer Light"/>
              </a:rPr>
              <a:t>1 067 / 4 554 hareket kaydırıldı (%23) · ort. 19 dk · toplam 20 640 uçuş-dk — uçuşların %77'si yerinde.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Resim 2" descr="mor, su, hafif, gec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C5DF197-5088-79D2-CCD3-0AD1DC1DCD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Resim 3" descr="yazı tipi, metin, grafik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19DB9F1-123F-1C2D-464C-943FB8C1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00" y="5988718"/>
            <a:ext cx="1763285" cy="456821"/>
          </a:xfrm>
          <a:prstGeom prst="rect">
            <a:avLst/>
          </a:prstGeom>
        </p:spPr>
      </p:pic>
      <p:sp>
        <p:nvSpPr>
          <p:cNvPr id="6" name="Google Shape;12;p3">
            <a:extLst>
              <a:ext uri="{FF2B5EF4-FFF2-40B4-BE49-F238E27FC236}">
                <a16:creationId xmlns:a16="http://schemas.microsoft.com/office/drawing/2014/main" id="{7EE05496-90CA-1905-A775-568FBC8423C5}"/>
              </a:ext>
            </a:extLst>
          </p:cNvPr>
          <p:cNvSpPr txBox="1"/>
          <p:nvPr/>
        </p:nvSpPr>
        <p:spPr>
          <a:xfrm flipH="1">
            <a:off x="658368" y="566928"/>
            <a:ext cx="1088136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tr-TR" sz="4000" b="1" dirty="0">
                <a:solidFill>
                  <a:schemeClr val="bg1"/>
                </a:solidFill>
                <a:latin typeface="Gilmer Bold" panose="020B0604020202020204" pitchFamily="34" charset="0"/>
                <a:cs typeface="Arial" panose="020B0604020202020204" pitchFamily="34" charset="0"/>
                <a:sym typeface="Lexend Medium"/>
              </a:rPr>
              <a:t>Sonuçlar: Kanıtlı İyileşme</a:t>
            </a:r>
            <a:endParaRPr lang="da-DK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C4D4"/>
                </a:solidFill>
                <a:latin typeface="Gilmer Medium"/>
              </a:rPr>
              <a:t>7/10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+%4,72  </a:t>
            </a:r>
            <a:r>
              <a:rPr sz="1350" b="0">
                <a:solidFill>
                  <a:srgbClr val="E4E0EC"/>
                </a:solidFill>
                <a:latin typeface="Gilmer Medium"/>
              </a:rPr>
              <a:t>gelir-ağırlıklı rekabetçilik iyileşmesi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DB7CC"/>
                </a:solidFill>
                <a:latin typeface="Gilmer Light"/>
              </a:rPr>
              <a:t>3 405 039'a karşı 3 251 527 → +153 512 puan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7121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2764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7648" y="170078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%1,18  </a:t>
            </a:r>
            <a:r>
              <a:rPr sz="1350" b="0">
                <a:solidFill>
                  <a:srgbClr val="E4E0EC"/>
                </a:solidFill>
                <a:latin typeface="Gilmer Medium"/>
              </a:rPr>
              <a:t>küresel MIP-gap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DB7CC"/>
                </a:solidFill>
                <a:latin typeface="Gilmer Light"/>
              </a:rPr>
              <a:t>tam-hafta kanıtı — sezgisel değil, ölçülü yakın-optimum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87121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018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%23  </a:t>
            </a:r>
            <a:r>
              <a:rPr sz="1350" b="0">
                <a:solidFill>
                  <a:srgbClr val="E4E0EC"/>
                </a:solidFill>
                <a:latin typeface="Gilmer Medium"/>
              </a:rPr>
              <a:t>hareketin kaydırılması yetti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DB7CC"/>
                </a:solidFill>
                <a:latin typeface="Gilmer Light"/>
              </a:rPr>
              <a:t>1 067 / 4 554 hareket · ortalama 19 dk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3425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12081F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3163824"/>
            <a:ext cx="5468112" cy="1225296"/>
          </a:xfrm>
          <a:prstGeom prst="roundRect">
            <a:avLst>
              <a:gd name="adj" fmla="val 55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FFFFFF"/>
                </a:solidFill>
                <a:latin typeface="Gilmer Bold"/>
              </a:rPr>
              <a:t>18/18  </a:t>
            </a:r>
            <a:r>
              <a:rPr sz="1350" b="0">
                <a:solidFill>
                  <a:srgbClr val="E4E0EC"/>
                </a:solidFill>
                <a:latin typeface="Gilmer Medium"/>
              </a:rPr>
              <a:t>bağımsız doğrulama PASS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DB7CC"/>
                </a:solidFill>
                <a:latin typeface="Gilmer Light"/>
              </a:rPr>
              <a:t>amaç ve baseline bağımsız yeniden hesapla birebir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4334256"/>
            <a:ext cx="5468112" cy="54864"/>
          </a:xfrm>
          <a:prstGeom prst="roundRect">
            <a:avLst>
              <a:gd name="adj" fmla="val 50000"/>
            </a:avLst>
          </a:prstGeom>
          <a:solidFill>
            <a:srgbClr val="018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91456"/>
            <a:ext cx="11155680" cy="9144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Gilmer Medium"/>
              </a:rPr>
              <a:t>6 966 bağlantı sunuldu</a:t>
            </a:r>
            <a:r>
              <a:rPr sz="1300" b="0">
                <a:solidFill>
                  <a:srgbClr val="BDB7CC"/>
                </a:solidFill>
                <a:latin typeface="Gilmer Light"/>
              </a:rPr>
              <a:t>  ·  iyileşme 7 güne dengeli (+19 bin … +24 bin)  ·  G gevşetmesi 0 gün  ·  rotasyonda yeni ihlal 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Gilmer Medium"/>
              </a:rPr>
              <a:t>Ölçülü dokunuş: </a:t>
            </a:r>
            <a:r>
              <a:rPr sz="1300" b="0">
                <a:solidFill>
                  <a:srgbClr val="BDB7CC"/>
                </a:solidFill>
                <a:latin typeface="Gilmer Light"/>
              </a:rPr>
              <a:t>uçuşların %77'si yerinden hiç oynamadı.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Bağımsız Doğrulama ve Şeffaflık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8/10</a:t>
            </a:r>
          </a:p>
        </p:txBody>
      </p:sp>
      <p:pic>
        <p:nvPicPr>
          <p:cNvPr id="9" name="Picture 8" descr="fig_gunlu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5989320" cy="28370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3950208"/>
            <a:ext cx="5989320" cy="4572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78"/>
                </a:solidFill>
                <a:latin typeface="Gilmer Medium"/>
              </a:rPr>
              <a:t>Günlük iyileşme: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kazanç 7 güne dengeli dağılır; tek güne yığılma yok.</a:t>
            </a:r>
          </a:p>
        </p:txBody>
      </p:sp>
      <p:pic>
        <p:nvPicPr>
          <p:cNvPr id="11" name="Picture 10" descr="09_Onaylanan__Tamamlan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59028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799" y="4590288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22F"/>
                </a:solidFill>
                <a:latin typeface="Gilmer Medium"/>
              </a:rPr>
              <a:t>Şeffaflık — sınırları biz raporluyoruz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974336"/>
            <a:ext cx="5989320" cy="1078992"/>
          </a:xfrm>
          <a:prstGeom prst="roundRect">
            <a:avLst>
              <a:gd name="adj" fmla="val 5500"/>
            </a:avLst>
          </a:prstGeom>
          <a:solidFill>
            <a:srgbClr val="F6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22F"/>
                </a:solidFill>
                <a:latin typeface="Gilmer Medium"/>
              </a:rPr>
              <a:t>Izgara-tutarlı bakışta iyileşme +%4,03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(ayrıklaştırma payı ayrıştırıldı, preaudit'te açık). </a:t>
            </a:r>
            <a:r>
              <a:rPr sz="1050" b="0">
                <a:solidFill>
                  <a:srgbClr val="1C122F"/>
                </a:solidFill>
                <a:latin typeface="Gilmer Medium"/>
              </a:rPr>
              <a:t>E2 tam ölçekte kanıtla kapalı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(çiftlerin %76'sı Γ=30'u yapısal aşıyor); </a:t>
            </a:r>
            <a:r>
              <a:rPr sz="1050" b="0">
                <a:solidFill>
                  <a:srgbClr val="1C122F"/>
                </a:solidFill>
                <a:latin typeface="Gilmer Medium"/>
              </a:rPr>
              <a:t>B2×E1 çatışması </a:t>
            </a:r>
            <a:r>
              <a:rPr sz="1050" b="0">
                <a:solidFill>
                  <a:srgbClr val="6E6A78"/>
                </a:solidFill>
                <a:latin typeface="Gilmer Light"/>
              </a:rPr>
              <a:t>nedeniyle B2 kapalı — adayların %90'ı zaten sunuluyor.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969264"/>
            <a:ext cx="5330952" cy="3657600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0035D7"/>
                </a:solidFill>
                <a:latin typeface="Gilmer Bold"/>
              </a:rPr>
              <a:t>ÇİFT-KAYIT DOĞRULAYICI — 18 KONTROL, TÜMÜ PASS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A1 ızgara · pencere · aritmetik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4 554 hareket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A2 rotasyon (gerçek zaman ekseni)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1 709 tur · yeni ihlal 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F kova kapasitesi 10/15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7 gün — aşan kova 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G gün-arası bant ±15 dk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2 644 bağ · bant dışı 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B1 boşluk · J · saat tutarlılığı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6 966 bağlantı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C · D ödül ve sıralama hesabı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4 660 pazar-gün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E1 yön dengesi (α=0.20)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2 001 çift · ihlal 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✓  </a:t>
            </a:r>
            <a:r>
              <a:rPr sz="1100" b="0">
                <a:solidFill>
                  <a:srgbClr val="1C122F"/>
                </a:solidFill>
                <a:latin typeface="Gilmer Medium"/>
              </a:rPr>
              <a:t>Amaç + baseline yeniden hesap</a:t>
            </a:r>
            <a:r>
              <a:rPr sz="1000" b="0">
                <a:solidFill>
                  <a:srgbClr val="6E6A78"/>
                </a:solidFill>
                <a:latin typeface="Gilmer Light"/>
              </a:rPr>
              <a:t>  —  3 405 039 / 3 251 527 birebir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773168"/>
            <a:ext cx="5330952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E6A78"/>
                </a:solidFill>
                <a:latin typeface="Gilmer Light"/>
              </a:rPr>
              <a:t>Jüri tek komutla, bizim çözücümüze güvenmeden denetleyebilir: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35D7"/>
                </a:solidFill>
                <a:latin typeface="Consolas"/>
              </a:rPr>
              <a:t>python src/05_validate_solution.py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74841845-9FDA-BBF9-8AAF-7415FD42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14" y="164468"/>
            <a:ext cx="1328304" cy="2673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55B8C-F67F-5299-7E6C-C27B7704FABF}"/>
              </a:ext>
            </a:extLst>
          </p:cNvPr>
          <p:cNvCxnSpPr>
            <a:cxnSpLocks/>
          </p:cNvCxnSpPr>
          <p:nvPr/>
        </p:nvCxnSpPr>
        <p:spPr>
          <a:xfrm>
            <a:off x="0" y="616860"/>
            <a:ext cx="12168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8">
            <a:extLst>
              <a:ext uri="{FF2B5EF4-FFF2-40B4-BE49-F238E27FC236}">
                <a16:creationId xmlns:a16="http://schemas.microsoft.com/office/drawing/2014/main" id="{CB1325B3-1ADB-DE6E-B0B4-AF0A2DA96989}"/>
              </a:ext>
            </a:extLst>
          </p:cNvPr>
          <p:cNvSpPr txBox="1"/>
          <p:nvPr/>
        </p:nvSpPr>
        <p:spPr>
          <a:xfrm>
            <a:off x="320040" y="146304"/>
            <a:ext cx="969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rgbClr val="1C122F"/>
                </a:solidFill>
                <a:latin typeface="Gilmer Medium" pitchFamily="2" charset="0"/>
              </a:rPr>
              <a:t>Değerlendirme Kriterlerine Karşılık ve Yol Haritası</a:t>
            </a:r>
            <a:endParaRPr lang="en-TR" sz="1400" dirty="0">
              <a:latin typeface="Gilmer Medium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698"/>
                </a:solidFill>
                <a:latin typeface="Gilmer Medium"/>
              </a:rP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841248"/>
            <a:ext cx="658368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22F"/>
                </a:solidFill>
                <a:latin typeface="Gilmer Medium"/>
              </a:rPr>
              <a:t>Kriter → bu teslimde karşılığı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61872"/>
            <a:ext cx="6583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>
                <a:solidFill>
                  <a:srgbClr val="0035D7"/>
                </a:solidFill>
                <a:latin typeface="Gilmer Bold"/>
              </a:rPr>
              <a:t>%30 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Model doğruluğu ve kapsam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E6A78"/>
                </a:solidFill>
                <a:latin typeface="Gilmer Light"/>
              </a:rPr>
              <a:t>A–G doğrusal MIP · brief-exact rotasyon · kanıtlı gevşetmeler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261872"/>
            <a:ext cx="45720" cy="731520"/>
          </a:xfrm>
          <a:prstGeom prst="roundRect">
            <a:avLst>
              <a:gd name="adj" fmla="val 50000"/>
            </a:avLst>
          </a:prstGeom>
          <a:solidFill>
            <a:srgbClr val="003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2066543"/>
            <a:ext cx="6583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>
                <a:solidFill>
                  <a:srgbClr val="CD2028"/>
                </a:solidFill>
                <a:latin typeface="Gilmer Bold"/>
              </a:rPr>
              <a:t>%25 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Çözüm kalitesi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E6A78"/>
                </a:solidFill>
                <a:latin typeface="Gilmer Light"/>
              </a:rPr>
              <a:t>+%4,72 uygun (feasible) çözüm · bağımsız doğrulama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066543"/>
            <a:ext cx="45720" cy="731520"/>
          </a:xfrm>
          <a:prstGeom prst="roundRect">
            <a:avLst>
              <a:gd name="adj" fmla="val 50000"/>
            </a:avLst>
          </a:prstGeom>
          <a:solidFill>
            <a:srgbClr val="CD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2871215"/>
            <a:ext cx="6583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>
                <a:solidFill>
                  <a:srgbClr val="1C1C51"/>
                </a:solidFill>
                <a:latin typeface="Gilmer Bold"/>
              </a:rPr>
              <a:t>%15 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Performans / ölçek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E6A78"/>
                </a:solidFill>
                <a:latin typeface="Gilmer Light"/>
              </a:rPr>
              <a:t>1,5 dk + ≤30 dk · gap %1,18 · gün/pazar veriden türetilir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871215"/>
            <a:ext cx="45720" cy="731520"/>
          </a:xfrm>
          <a:prstGeom prst="roundRect">
            <a:avLst>
              <a:gd name="adj" fmla="val 50000"/>
            </a:avLst>
          </a:prstGeom>
          <a:solidFill>
            <a:srgbClr val="1C1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3675887"/>
            <a:ext cx="6583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>
                <a:solidFill>
                  <a:srgbClr val="1C1C51"/>
                </a:solidFill>
                <a:latin typeface="Gilmer Bold"/>
              </a:rPr>
              <a:t>%15 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Kod ve tekrar üretilebilirlik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E6A78"/>
                </a:solidFill>
                <a:latin typeface="Gilmer Light"/>
              </a:rPr>
              <a:t>tek komut · deterministik (seed=0) · şema doğrulama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75887"/>
            <a:ext cx="45720" cy="731520"/>
          </a:xfrm>
          <a:prstGeom prst="roundRect">
            <a:avLst>
              <a:gd name="adj" fmla="val 50000"/>
            </a:avLst>
          </a:prstGeom>
          <a:solidFill>
            <a:srgbClr val="1C1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" y="4480559"/>
            <a:ext cx="6583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>
                <a:solidFill>
                  <a:srgbClr val="9E55A0"/>
                </a:solidFill>
                <a:latin typeface="Gilmer Bold"/>
              </a:rPr>
              <a:t>%10 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Teknik rapor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E6A78"/>
                </a:solidFill>
                <a:latin typeface="Gilmer Light"/>
              </a:rPr>
              <a:t>model + teknik rapor + doğrulama + duyarlılık + preaudit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480559"/>
            <a:ext cx="45720" cy="731520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" y="5285231"/>
            <a:ext cx="6583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0">
                <a:solidFill>
                  <a:srgbClr val="9E55A0"/>
                </a:solidFill>
                <a:latin typeface="Gilmer Bold"/>
              </a:rPr>
              <a:t>%5   </a:t>
            </a:r>
            <a:r>
              <a:rPr sz="1150" b="0">
                <a:solidFill>
                  <a:srgbClr val="1C122F"/>
                </a:solidFill>
                <a:latin typeface="Gilmer Medium"/>
              </a:rPr>
              <a:t>Yenilikçilik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E6A78"/>
                </a:solidFill>
                <a:latin typeface="Gilmer Light"/>
              </a:rPr>
              <a:t>λ cezası · MIP-start cilalama · çift-kayıt doğrulayıcı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285231"/>
            <a:ext cx="45720" cy="731520"/>
          </a:xfrm>
          <a:prstGeom prst="roundRect">
            <a:avLst>
              <a:gd name="adj" fmla="val 50000"/>
            </a:avLst>
          </a:prstGeom>
          <a:solidFill>
            <a:srgbClr val="9E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5_Proje_Tamamlandı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786384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63256" y="859536"/>
            <a:ext cx="420624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22F"/>
                </a:solidFill>
                <a:latin typeface="Gilmer Medium"/>
              </a:rPr>
              <a:t>Geliştirme ufku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261872"/>
            <a:ext cx="4599432" cy="3246120"/>
          </a:xfrm>
          <a:prstGeom prst="roundRect">
            <a:avLst>
              <a:gd name="adj" fmla="val 5500"/>
            </a:avLst>
          </a:prstGeom>
          <a:solidFill>
            <a:srgbClr val="EE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C1C51"/>
                </a:solidFill>
                <a:latin typeface="Gilmer Medium"/>
              </a:rPr>
              <a:t>→  Soft-E2: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en-iyi-süre dengesini ceza olarak ekle (sert hali veride imkânsız — kanıtlı).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C1C51"/>
                </a:solidFill>
                <a:latin typeface="Gilmer Medium"/>
              </a:rPr>
              <a:t>→  Gap ↓: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ticari çözücü veya daha uzun cilalama; indicator constraint'ler.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C1C51"/>
                </a:solidFill>
                <a:latin typeface="Gilmer Medium"/>
              </a:rPr>
              <a:t>→  Akıllı λ: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pazar değerine (ρ) ölçekli, uçuş-bazlı ceza.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C1C51"/>
                </a:solidFill>
                <a:latin typeface="Gilmer Medium"/>
              </a:rPr>
              <a:t>→  Belirsizlik: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stokastik talep, tail sürekliliği.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C1C51"/>
                </a:solidFill>
                <a:latin typeface="Gilmer Medium"/>
              </a:rPr>
              <a:t>→  YZ entegrasyonu:</a:t>
            </a:r>
            <a:r>
              <a:rPr sz="1150" b="0">
                <a:solidFill>
                  <a:srgbClr val="1C122F"/>
                </a:solidFill>
                <a:latin typeface="Gilmer Light"/>
              </a:rPr>
              <a:t> talep tahmini ve öğrenilmiş parametrelerle MIP'i besle.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4663440"/>
            <a:ext cx="4599432" cy="1389888"/>
          </a:xfrm>
          <a:prstGeom prst="roundRect">
            <a:avLst>
              <a:gd name="adj" fmla="val 55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 bIns="6400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0035D7"/>
                </a:solidFill>
                <a:latin typeface="Gilmer Bold"/>
              </a:rPr>
              <a:t>GİZLİ TEST HAZIRLIĞI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A78"/>
                </a:solidFill>
                <a:latin typeface="Gilmer Light"/>
              </a:rPr>
              <a:t>Gün · pazar · rakip sayıları veriden türetilir; hiçbir değer koda gömülü değil. Eksik sütun okunur hata verir; tek günün hatası koşuyu çökertmez.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A purple and blue light&#10;&#10;AI-generated content may be incorrect.">
            <a:extLst>
              <a:ext uri="{FF2B5EF4-FFF2-40B4-BE49-F238E27FC236}">
                <a16:creationId xmlns:a16="http://schemas.microsoft.com/office/drawing/2014/main" id="{9A6401ED-1480-9089-86C7-4A855ED475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18"/>
            <a:ext cx="12207186" cy="68494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B8A0E2-B868-5286-1880-10CA33C63629}"/>
              </a:ext>
            </a:extLst>
          </p:cNvPr>
          <p:cNvSpPr txBox="1"/>
          <p:nvPr/>
        </p:nvSpPr>
        <p:spPr>
          <a:xfrm>
            <a:off x="4411086" y="2844225"/>
            <a:ext cx="3385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200" dirty="0">
                <a:solidFill>
                  <a:schemeClr val="bg1"/>
                </a:solidFill>
                <a:latin typeface="Gilmer Light" pitchFamily="2" charset="77"/>
              </a:rPr>
              <a:t>TEŞEKKÜRLER</a:t>
            </a:r>
            <a:endParaRPr lang="en-TR" sz="3200" dirty="0">
              <a:solidFill>
                <a:schemeClr val="bg1"/>
              </a:solidFill>
              <a:latin typeface="Gilmer Ligh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0C6AE-E3AA-023E-BA1D-BC52538E7A0B}"/>
              </a:ext>
            </a:extLst>
          </p:cNvPr>
          <p:cNvSpPr txBox="1"/>
          <p:nvPr/>
        </p:nvSpPr>
        <p:spPr>
          <a:xfrm>
            <a:off x="1801368" y="3639312"/>
            <a:ext cx="859536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Gilmer Medium"/>
              </a:rPr>
              <a:t>Büke — brief-exact, iki aşamalı MIP hattı</a:t>
            </a:r>
            <a:endParaRPr lang="en-TR" sz="3200" dirty="0">
              <a:solidFill>
                <a:schemeClr val="bg1"/>
              </a:solidFill>
              <a:latin typeface="Gilmer Bold" pitchFamily="2" charset="77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3E2"/>
                </a:solidFill>
                <a:latin typeface="Gilmer Light"/>
              </a:rPr>
              <a:t>+%4,72 rekabetçilik · %23 uçuşta ort. 19 dk kaydırma · gap %1,18 · bağımsız doğrulayıcı tam PASS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3AB"/>
                </a:solidFill>
                <a:latin typeface="Gilmer Light"/>
              </a:rPr>
              <a:t>Melih Ekizce · Mustafa Eren Işıktaşlı · Serhat Özdemir · Mert Arı</a:t>
            </a:r>
          </a:p>
        </p:txBody>
      </p:sp>
      <p:pic>
        <p:nvPicPr>
          <p:cNvPr id="7" name="Picture 6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3E320C4A-D0EA-EB65-A9BF-E5E5DBD61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681" y="4991586"/>
            <a:ext cx="3648638" cy="477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28832" y="6483096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C4D4"/>
                </a:solidFill>
                <a:latin typeface="Gilmer Medium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2897</TotalTime>
  <Words>225</Words>
  <Application>Microsoft Macintosh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Agency FB</vt:lpstr>
      <vt:lpstr>Aptos</vt:lpstr>
      <vt:lpstr>Aptos Display</vt:lpstr>
      <vt:lpstr>Aptos ExtraBold</vt:lpstr>
      <vt:lpstr>Arial</vt:lpstr>
      <vt:lpstr>Calibri</vt:lpstr>
      <vt:lpstr>Gilmer Bold</vt:lpstr>
      <vt:lpstr>Gilmer Light</vt:lpstr>
      <vt:lpstr>Gilmer Medium</vt:lpstr>
      <vt:lpstr>Gilmer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TULAY OZGUR - Product Design Chapter</dc:creator>
  <cp:lastModifiedBy>BUSRA SAHIN CELIK - Insan Kaynaklari Direktorlugu</cp:lastModifiedBy>
  <cp:revision>19</cp:revision>
  <dcterms:created xsi:type="dcterms:W3CDTF">2026-03-02T11:08:53Z</dcterms:created>
  <dcterms:modified xsi:type="dcterms:W3CDTF">2026-08-07T10:42:51Z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8698d1-e7e4-420e-adb0-900f7f613ef2_Enabled">
    <vt:lpwstr>true</vt:lpwstr>
  </property>
  <property fmtid="{D5CDD505-2E9C-101B-9397-08002B2CF9AE}" pid="3" name="MSIP_Label_f38698d1-e7e4-420e-adb0-900f7f613ef2_SetDate">
    <vt:lpwstr>2026-08-07T10:31:44Z</vt:lpwstr>
  </property>
  <property fmtid="{D5CDD505-2E9C-101B-9397-08002B2CF9AE}" pid="4" name="MSIP_Label_f38698d1-e7e4-420e-adb0-900f7f613ef2_Method">
    <vt:lpwstr>Privileged</vt:lpwstr>
  </property>
  <property fmtid="{D5CDD505-2E9C-101B-9397-08002B2CF9AE}" pid="5" name="MSIP_Label_f38698d1-e7e4-420e-adb0-900f7f613ef2_Name">
    <vt:lpwstr>test-genel</vt:lpwstr>
  </property>
  <property fmtid="{D5CDD505-2E9C-101B-9397-08002B2CF9AE}" pid="6" name="MSIP_Label_f38698d1-e7e4-420e-adb0-900f7f613ef2_SiteId">
    <vt:lpwstr>745a1b8b-9958-4d1e-ac1c-f741f0ff4eba</vt:lpwstr>
  </property>
  <property fmtid="{D5CDD505-2E9C-101B-9397-08002B2CF9AE}" pid="7" name="MSIP_Label_f38698d1-e7e4-420e-adb0-900f7f613ef2_ActionId">
    <vt:lpwstr>d9d56957-6d18-4b72-9969-b1a073f6b2db</vt:lpwstr>
  </property>
  <property fmtid="{D5CDD505-2E9C-101B-9397-08002B2CF9AE}" pid="8" name="MSIP_Label_f38698d1-e7e4-420e-adb0-900f7f613ef2_ContentBits">
    <vt:lpwstr>1</vt:lpwstr>
  </property>
  <property fmtid="{D5CDD505-2E9C-101B-9397-08002B2CF9AE}" pid="9" name="MSIP_Label_f38698d1-e7e4-420e-adb0-900f7f613ef2_Tag">
    <vt:lpwstr>50, 0, 1, 1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Genel (Public)</vt:lpwstr>
  </property>
</Properties>
</file>