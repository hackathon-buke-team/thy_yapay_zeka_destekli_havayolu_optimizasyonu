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19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0C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3"/>
    <p:restoredTop sz="94718"/>
  </p:normalViewPr>
  <p:slideViewPr>
    <p:cSldViewPr snapToGrid="0">
      <p:cViewPr varScale="1">
        <p:scale>
          <a:sx n="91" d="100"/>
          <a:sy n="91" d="100"/>
        </p:scale>
        <p:origin x="3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4C28-20E0-1648-BABD-86B650DD0254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3A0F8-C839-C14C-97BD-C8CA6A3268D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7709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SÜRE: ~30 sn</a:t>
            </a:r>
          </a:p>
          <a:p>
            <a:r>
              <a:t>Sayın jüri üyeleri, merhaba. Biz Takım Büke: Melih Ekizce, Mustafa Eren Işıktaşlı, Serhat Özdemir ve Mert Arı.</a:t>
            </a:r>
          </a:p>
          <a:p>
            <a:r>
              <a:t>"Tarife Planlamalarında Rakip Odaklı Ağ Optimizasyonu" problemi için geliştirdiğimiz çözümü sunacağız.</a:t>
            </a:r>
          </a:p>
          <a:p>
            <a:r>
              <a:t>10 dakikada sırasıyla: problemi nasıl modellediğimizi, iki aşamalı çözüm hattımızı, üç yeniliğimizi ve bağımsız doğrulanmış sonuçlarımızı anlatacağız.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SÜRE: ~1 dk</a:t>
            </a:r>
          </a:p>
          <a:p>
            <a:r>
              <a:t>Tek cümleyle: İstanbul hub'ındaki 4 554 ayarlanabilir uçuş hareketinin saatini kaydırarak gelir-ağırlıklı rekabetçiliği %4,72 artırdık — uçuşların yalnızca %23'üne, ortalama 19 dakikalık dokunuşla.</a:t>
            </a:r>
          </a:p>
          <a:p>
            <a:r>
              <a:t>Haritadaki kırmızı hat tipik örnek: Venedik'ten Cidde'ye giden yolcu IST'te aktarır. Yolcunun tercihi toplam süreye bağlı: J = gelen bacak (E1) + IST'teki boşluk (g) + giden bacak (E2). Bacak süreleri sabittir; tek kaldıracımız IST kalkış-varış saatleridir.</a:t>
            </a:r>
          </a:p>
          <a:p>
            <a:r>
              <a:t>Boşluk 60 dakikanın altındaysa bagaj/yolcu yetişmez; 300'ün üstündeyse yolcu Frankfurt, Doha, Dubai hub'lı rakibe gider.</a:t>
            </a:r>
          </a:p>
          <a:p>
            <a:r>
              <a:t>Amaç fonksiyonu gelir potansiyeli ρ ile ağırlıklı: değerli pazarlarda daha çok uygun bağlantı + rakipten kısa toplam süre.</a:t>
            </a:r>
          </a:p>
          <a:p>
            <a:r>
              <a:t>Alttaki iki güvence: %1,18 kanıtlı küresel optimalite boşluğu ve 18/18 bağımsız doğrulama.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SÜRE: ~1,5 dk</a:t>
            </a:r>
          </a:p>
          <a:p>
            <a:r>
              <a:t>Brief kısıtları "ne sağlanmalı" düzeyinde verdi; doğru ve sıkı doğrusallaştırma yarışmanın çekirdek becerisiydi.</a:t>
            </a:r>
          </a:p>
          <a:p>
            <a:r>
              <a:t>Karar değişkenleri: x[r,t] uçuş örneğini 10 dakikalık kovaya atar; y[π] bağlantının sunulup sunulmadığı; z, w, beta, gamma ödül ve sıralama seçicileri. Toplam ~100 bin ikili.</a:t>
            </a:r>
          </a:p>
          <a:p>
            <a:r>
              <a:t>Amaç: brief'in bağlantı ödülü (azalan getiri: 1, yarım, çeyrek) + sıralama ödülü; yanına λ=0.3 tarife-değişim cezamızı ekledik. Raporlanan iyileşme DAİMA cezasız ölçülür.</a:t>
            </a:r>
          </a:p>
          <a:p>
            <a:r>
              <a:t>A-G kartlarını tek tek okumayın; öne çıkanlar: A rotasyon brief-exact, 1 709 turda yeni ihlal 0. E yön dengesi 2 001 çiftte ihlal 0. F gerçek kapasite 10 kalkış/15 varış. G günler arası ±15 dk.</a:t>
            </a:r>
          </a:p>
          <a:p>
            <a:r>
              <a:t>Sıkılık: yön-yerel büyük-M'ler, ön-işlemeyle çoğu rakip-yenme kısıtında M hiç kurulmaz, ceza terimi tamamen M'siz, monoton slot LP'yi sıkar.</a:t>
            </a:r>
          </a:p>
          <a:p>
            <a:r>
              <a:t>Olası soru — "Kısıt H?": brief'in A-G listesinde ve veride yok; bilinçli dahil etmedik.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SÜRE: ~1,5 dk</a:t>
            </a:r>
          </a:p>
          <a:p>
            <a:r>
              <a:t>Zorluk: 100 bin ikilili yekpare 7-gün modeli soğuk başlangıçla 600 saniyede incumbent bile bulamıyor.</a:t>
            </a:r>
          </a:p>
          <a:p>
            <a:r>
              <a:t>Gözlem: günleri bağlayan TEK kısıt G (tarife düzenliliği). Diğer her şey gün-içi.</a:t>
            </a:r>
          </a:p>
          <a:p>
            <a:r>
              <a:t>Aşama 1: güne ayrıştırma — 7 ayrı MIP, her biri ~17 bin ikili. Toplam ~1,5 dakika, gün-içi gap ≤ %0,1.</a:t>
            </a:r>
          </a:p>
          <a:p>
            <a:r>
              <a:t>Aşama 2: aşama-1 çözümü MIP-start olarak verilir, tam hafta tek modelde ≤30 dakika cilalanır. Küresel gap %1,18'e iner.</a:t>
            </a:r>
          </a:p>
          <a:p>
            <a:r>
              <a:t>Üçüncü kutu güvenlik ağı: 18 kontrollü bağımsız doğrulayıcı. Herhangi biri FAIL verirse koşu kendini durdurur; iyileşme kanıtlanamazsa aşama-1 çıktısı korunur (çift bariyer).</a:t>
            </a:r>
          </a:p>
          <a:p>
            <a:r>
              <a:t>Neden HiGHS? Açık kaynak — jüri makinesinde lisanssız koşar. threads=1, seed=0 ile deterministik. Performans açığını ticari çözücüyle değil, formülasyon sıkılığı + ayrıştırma + MIP-start ile kapattık.</a:t>
            </a:r>
          </a:p>
          <a:p>
            <a:r>
              <a:t>Her şey tek komut: python run_all.py, uçtan uca ~35-40 dakika.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SÜRE: ~1,5 dk — EN ÖNEMLİ SLAYT</a:t>
            </a:r>
          </a:p>
          <a:p>
            <a:r>
              <a:t>Brief amacı, uçuşu yerinde tutmakla kaydırmak arasında kayıtsız. Cezasız çözüm uçuşların %92'sini kaydırıyor — operasyonel olarak uygulanamaz.</a:t>
            </a:r>
          </a:p>
          <a:p>
            <a:r>
              <a:t>λ tarife-değişim cezası ekledik. Grafikteki kritik bulgu: ceza yalnız kaydırmayı %92'den %25'e düşürmüyor; kazanımı da %3,89'dan %4,32'ye YÜKSELTIYOR.</a:t>
            </a:r>
          </a:p>
          <a:p>
            <a:r>
              <a:t>Nedeni: binlerce eş-amaçlı "bedava kaydırma" simetrisi LP gevşetmesini bozuyordu; ceza simetriyi kırınca çözücü aynı sürede daha iyi çözüm buluyor. Ceza paradoksu diyoruz.</a:t>
            </a:r>
          </a:p>
          <a:p>
            <a:r>
              <a:t>λ=0.3 diz noktası: en yüksek kazanım + düşük kaydırma. 0.1-1.5 bandında sonuç kararlı (duyarlılık raporunda).</a:t>
            </a:r>
          </a:p>
          <a:p>
            <a:r>
              <a:t>Formülasyon inceliği: A1 tekil atama sayesinde |θ-cur| = Σ|t-cur|·x — mutlak değer için ek değişken de büyük-M de gerekmiyor.</a:t>
            </a:r>
          </a:p>
          <a:p>
            <a:r>
              <a:t>Nihai çözümde: %23 kaydırma, ortalama 19 dakika, uçuşların %77'si yerinde.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SÜRE: ~1 dk</a:t>
            </a:r>
          </a:p>
          <a:p>
            <a:r>
              <a:t>Tam-hafta MIP-start cilalama: hızlı ayrıştırmanın üzerine +14 752 ek puan koydu; ama asıl değeri kanıt: %1,18 küresel gap. "İyi sezgisel yaptık" demiyoruz; kanıtlı yakın-optimum sunuyoruz.</a:t>
            </a:r>
          </a:p>
          <a:p>
            <a:r>
              <a:t>Çift-kayıt doğrulama: muhasebedeki çift kayıt gibi. Çözümü üreten MIP koduna güvenmeden, ayrı bir betik her şeyi veri katmanından yeniden hesaplar: 18 kontrol, tümü PASS.</a:t>
            </a:r>
          </a:p>
          <a:p>
            <a:r>
              <a:t>Jüri de koşturabilir: python src/05_validate_solution.py — tek komut.</a:t>
            </a:r>
          </a:p>
          <a:p>
            <a:r>
              <a:t>Preaudit kültürü: kendi skorumuza da saldırdık; ızgara payı, rotasyon kapsamı ve marjları ayrı ayrı ölçüp raporladık. Geliştirme sürecinde doğrulayıcı üç gerçek hata yakaladı (çift ödül, hafta kopyası, kapasite kapsamı) — hepsi veri katmanında düzeltildi.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SÜRE: ~1 dk</a:t>
            </a:r>
          </a:p>
          <a:p>
            <a:r>
              <a:t>Dört ana sayı:</a:t>
            </a:r>
          </a:p>
          <a:p>
            <a:r>
              <a:t>+%4,72 — mevcut tarifeye göre gelir-ağırlıklı rekabetçilik; 3 405 039'a karşı 3 251 527, +153 512 puan.</a:t>
            </a:r>
          </a:p>
          <a:p>
            <a:r>
              <a:t>%1,18 — küresel MIP-gap; kanıtlı yakın-optimum.</a:t>
            </a:r>
          </a:p>
          <a:p>
            <a:r>
              <a:t>%23 — dokunulan hareket oranı (1 067/4 554), ortalama 19 dakika. Cerrahi dokunuş: uçuşların %77'si hiç oynamadı.</a:t>
            </a:r>
          </a:p>
          <a:p>
            <a:r>
              <a:t>18/18 — bağımsız doğrulama, amaç ve baseline birebir teyitli.</a:t>
            </a:r>
          </a:p>
          <a:p>
            <a:r>
              <a:t>Alt satır: 6 966 bağlantı sunuldu; iyileşme 7 güne dengeli dağılıyor (+19 bin ile +24 bin arası) — kırılgan tek-gün zaferi değil; G gevşetmesi 0; rotasyonda yeni ihlal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SÜRE: ~1 dk</a:t>
            </a:r>
          </a:p>
          <a:p>
            <a:r>
              <a:t>Soldaki grafik: günlük iyileşme. Yedi günün tamamında +19 bin ile +24 bin arasında — model belirli bir güne aşırı uyum yapmıyor.</a:t>
            </a:r>
          </a:p>
          <a:p>
            <a:r>
              <a:t>Sağdaki özet: A1-A2-F-G operasyonel kısıtlar (ızgara, rotasyon, kapasite, bant) ihlal 0. B1-C-D ödül hesapları 6 966 bağlantıda birebir. E1 yön dengesi 2 001 çiftte ihlal 0. En kritisi: amaç VE baseline değerleri bağımsız yeniden hesapla birebir aynı.</a:t>
            </a:r>
          </a:p>
          <a:p>
            <a:r>
              <a:t>Vurgu cümlesi: "Çıktılarımızı bizim kodumuza güvenmeden, tek komutla denetleyebilirsiniz."</a:t>
            </a:r>
          </a:p>
          <a:p>
            <a:r>
              <a:t>Bu slaytta fazla durmayın; sayılar önceki slaytlarda anlatıldı.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SÜRE: ~1 dk</a:t>
            </a:r>
          </a:p>
          <a:p>
            <a:r>
              <a:t>Sınırlarımızı biz raporluyoruz — jüri sormadan:</a:t>
            </a:r>
          </a:p>
          <a:p>
            <a:r>
              <a:t>1) Izgara payı: +%4,72'nin bir kısmı 10 dk ayrıklaştırmadan gelir; ızgara-tutarlı bakışta iyileşme +%4,03. Bunu preaudit'te kendimiz açıkladık.</a:t>
            </a:r>
          </a:p>
          <a:p>
            <a:r>
              <a:t>2) E2 (en-iyi-süre dengesi) tam ölçekte kapalı — iki bağımsız kanıt: çözücü kanıtı (E2 açıkken tek gün bile incumbent yok) ve veri kanıtı (çiftlerin %76'sı 30 dk eşiğini yapısal aşıyor; fark 465 dk'ya çıkıyor). Küçük örnekte kurulu ve doğrulanmış.</a:t>
            </a:r>
          </a:p>
          <a:p>
            <a:r>
              <a:t>3) B2 zorunlu sunum, E1 ile çatıştığı için kapalı; amaç zaten adayların %90'ını sunduruyor.</a:t>
            </a:r>
          </a:p>
          <a:p>
            <a:r>
              <a:t>4) 221 uçuşta rotasyon kısıtı kurulamıyor — Flight Pairs W26 sezonu, tarife Ağustos 2025. Veri sınırı, model hatası değil.</a:t>
            </a:r>
          </a:p>
          <a:p>
            <a:r>
              <a:t>Yol haritası: soft-E2, ticari çözücü/uzun cilalama ile gap düşürme, ρ-ölçekli akıllı λ, talep tahminiyle YZ entegrasyonu.</a:t>
            </a:r>
          </a:p>
          <a:p>
            <a:r>
              <a:t>Gizli test: her şey veriden türetilir, hardcode yok, şema doğrulama + hata izolasyonu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SÜRE: ~30 sn</a:t>
            </a:r>
          </a:p>
          <a:p>
            <a:r>
              <a:t>Özet: Büke, brief-exact iki aşamalı bir MIP hattı kurdu. Mevcut tarifeye göre +%4,72 gelir-ağırlıklı rekabetçilik; uçuşların yalnızca %23'ünde ortalama 19 dakika kaydırma; %1,18 kanıtlı küresel gap; bağımsız doğrulayıcıda tam uyum.</a:t>
            </a:r>
          </a:p>
          <a:p>
            <a:r>
              <a:t>Bu sadece bir skor değil — denetlenebilir, tekrar üretilebilir ve gizli teste hazır bir mühendislik teslimi.</a:t>
            </a:r>
          </a:p>
          <a:p>
            <a:r>
              <a:t>Dinlediğiniz için teşekkür ederiz; sorularınızı memnuniyetle yanıtlarız.</a:t>
            </a:r>
          </a:p>
          <a:p>
            <a:r>
              <a:t>(Soru-cevap için hazırlık: docs/Buke_JURI_SORU_BANKASI — 59 soru.)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76F6-F28F-ECB3-7BD2-F99487BBB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D76AC-9A77-A002-D47D-4C4770107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E642D-F7C6-F4B7-79B9-E8CB36C6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38080-BA8E-5157-02AC-5E17B114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A14C5-C363-35F6-6B2E-5F6CF8D9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8673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6735-2102-902C-8F82-BDE5E489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46990-CE89-0585-7745-81D05A5FE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4A666-C87B-9A2B-ED59-DF774C51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73DEB-767F-042D-2E74-0037F41AA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0B3F5-AD5A-FA46-583C-CA023A2D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71446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4387B-96EB-97AD-0D23-A1778DF9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B0EE4-3B61-82C0-881A-5067220DB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95F80-0C2B-A103-2DC5-56F8D02B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10A0F-C536-2D78-C1EF-245B983F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01778-6753-2F3D-E61A-2D8098C0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6210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419DF-97FE-F954-C4A8-2F9A12C5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F999-A8D4-AC00-3A90-0BD2DA95B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44E9A-08CF-C74F-032F-6D45E0AFB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0056E-A562-B61E-9BB9-866CC2D0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1E2E6-1C61-F5DC-F33C-4E1E3757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3F6D0-69B5-2AA3-0232-1830FF11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4912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F14C-F764-0273-2DFF-823D605B2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977E3-763D-712E-94FF-CA4C8C2C9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D4C43-2498-7DCB-5CFE-4BB122D8C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FB6D66-DBB0-400C-17F3-4B82AEB58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2CD977-8493-AE62-7E51-9B93BA2C4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11FDB-87F6-A1AE-EA13-53149B749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2447C-8312-D184-A2AA-89826F38A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5CBF3-C176-AFD9-AB5C-F786F47E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5696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3674-6A27-5881-CD01-03C7B325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AD575-5F9F-9F4F-370C-05B7A4AB0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3311B-884D-9046-8104-9DE9F3A1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CC135-4750-7AAB-3ECC-77AE957F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81638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5F0657-96BA-B2A8-1B2C-CBC2C043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C89CB-AEA5-34F4-2482-98FC1F19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CDB20-DA2B-C835-D7D1-5FCDBB54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97459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7C071-7D82-D363-BF72-CA881D24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BA464-B6FA-70EA-E0AE-DDBCAF793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8F19A-6D14-942E-86A0-F4E893090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D6D73-910B-DAE3-1B50-33A08764C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3B3E1-14E8-7A06-E8DE-CADE32E1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0DCB7-8EE8-F92C-DADA-3D243F3B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0565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7A3D-0127-42CB-F61C-281A8266E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2DAA3-94EA-B96B-3D33-2031F0D5C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85C6F-B95E-B7BD-BCE1-1345B6883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14131-D30D-5ECB-B45A-8093FCE7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A93D1-BAC8-76B4-11A8-F5D356D4B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10A37-9B33-A031-CD76-9CD63131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00742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FCD1-E08D-ACAE-87A1-76063B27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6C0C7-E393-2DB0-A673-26FD5EA47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A9F47-B0A2-5CCA-5EA5-D9085962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9AAA6-F9E3-8B3B-6F5D-EF8E0EF8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BA063-BC60-4E90-085A-E561EAC8A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1150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52B23C-0D67-5713-4DF6-78E39EEEF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596C9-1F2E-B401-7375-9C64442C8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28E5C-EE59-3EEF-8368-F46B807A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70C47-B2B6-D0C8-CF86-C3EEC9BDE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DC49B-BE5E-B307-F01D-F8C4CE5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19058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8A5CABD-8762-ED9F-D599-63E9505AF7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9775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4" name="Resim Yer Tutucusu 2">
            <a:extLst>
              <a:ext uri="{FF2B5EF4-FFF2-40B4-BE49-F238E27FC236}">
                <a16:creationId xmlns:a16="http://schemas.microsoft.com/office/drawing/2014/main" id="{447087F2-4E12-C1BF-C25D-C27900AA90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46061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5" name="Resim Yer Tutucusu 2">
            <a:extLst>
              <a:ext uri="{FF2B5EF4-FFF2-40B4-BE49-F238E27FC236}">
                <a16:creationId xmlns:a16="http://schemas.microsoft.com/office/drawing/2014/main" id="{787FF2E2-C79C-FD55-6C8A-55973C7596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52347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6" name="Resim Yer Tutucusu 2">
            <a:extLst>
              <a:ext uri="{FF2B5EF4-FFF2-40B4-BE49-F238E27FC236}">
                <a16:creationId xmlns:a16="http://schemas.microsoft.com/office/drawing/2014/main" id="{079824B7-6B15-1464-353D-0418FAB75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09647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7" name="Resim Yer Tutucusu 2">
            <a:extLst>
              <a:ext uri="{FF2B5EF4-FFF2-40B4-BE49-F238E27FC236}">
                <a16:creationId xmlns:a16="http://schemas.microsoft.com/office/drawing/2014/main" id="{B7CD759E-F32B-A01B-1E7F-EA3ACEF80D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84523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8" name="Resim Yer Tutucusu 2">
            <a:extLst>
              <a:ext uri="{FF2B5EF4-FFF2-40B4-BE49-F238E27FC236}">
                <a16:creationId xmlns:a16="http://schemas.microsoft.com/office/drawing/2014/main" id="{957BC85A-22DD-0207-6C69-8C890E3562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59399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9" name="Resim Yer Tutucusu 2">
            <a:extLst>
              <a:ext uri="{FF2B5EF4-FFF2-40B4-BE49-F238E27FC236}">
                <a16:creationId xmlns:a16="http://schemas.microsoft.com/office/drawing/2014/main" id="{1EE668A7-483A-988E-824F-0F208ECA19A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34275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Resim Yer Tutucusu 2">
            <a:extLst>
              <a:ext uri="{FF2B5EF4-FFF2-40B4-BE49-F238E27FC236}">
                <a16:creationId xmlns:a16="http://schemas.microsoft.com/office/drawing/2014/main" id="{71C896E9-F1F0-090F-164F-C8453E7174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9151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11" name="Resim Yer Tutucusu 2">
            <a:extLst>
              <a:ext uri="{FF2B5EF4-FFF2-40B4-BE49-F238E27FC236}">
                <a16:creationId xmlns:a16="http://schemas.microsoft.com/office/drawing/2014/main" id="{3C2E32B2-D75A-82CA-C0CC-8F0D891D52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984027" y="544513"/>
            <a:ext cx="1131888" cy="1681162"/>
          </a:xfr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561B6-366B-3098-5988-067C31C5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3C44A-E187-5C91-642D-63E3CC110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CF92D-3B4C-EF39-4C41-EE2551F31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B76F3-27AE-8E4D-9E91-D79F5BA04FA3}" type="datetimeFigureOut">
              <a:rPr lang="en-TR" smtClean="0"/>
              <a:t>08/08/2026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0C329-0AA0-6C01-A222-76F6F85B0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7FCC5-2D85-91F6-76FB-EE1CC0D44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0136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ue light&#10;&#10;AI-generated content may be incorrect.">
            <a:extLst>
              <a:ext uri="{FF2B5EF4-FFF2-40B4-BE49-F238E27FC236}">
                <a16:creationId xmlns:a16="http://schemas.microsoft.com/office/drawing/2014/main" id="{9A726053-E06A-F99B-38E0-F975EC6482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18"/>
            <a:ext cx="12207186" cy="68494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6F5906-C7A1-5F4D-1A29-F030344743D8}"/>
              </a:ext>
            </a:extLst>
          </p:cNvPr>
          <p:cNvSpPr txBox="1"/>
          <p:nvPr/>
        </p:nvSpPr>
        <p:spPr>
          <a:xfrm>
            <a:off x="1069848" y="1956816"/>
            <a:ext cx="100584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000" dirty="0">
                <a:solidFill>
                  <a:schemeClr val="bg1"/>
                </a:solidFill>
                <a:latin typeface="Gilmer Bold" pitchFamily="2" charset="77"/>
              </a:rPr>
              <a:t>Tarife Planlamalarında Rakip Odaklı Ağ Optimizasyonu</a:t>
            </a:r>
            <a:endParaRPr lang="en-TR" sz="3200" dirty="0">
              <a:solidFill>
                <a:schemeClr val="bg1"/>
              </a:solidFill>
              <a:latin typeface="Gilmer Bold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2CF8F-18D2-505E-BDC4-C18AF536E5B3}"/>
              </a:ext>
            </a:extLst>
          </p:cNvPr>
          <p:cNvSpPr txBox="1"/>
          <p:nvPr/>
        </p:nvSpPr>
        <p:spPr>
          <a:xfrm>
            <a:off x="1527048" y="2724912"/>
            <a:ext cx="9144000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dirty="0">
                <a:solidFill>
                  <a:srgbClr val="D8D3E2"/>
                </a:solidFill>
                <a:latin typeface="Gilmer Light"/>
              </a:rPr>
              <a:t>TEKNOFEST · </a:t>
            </a:r>
            <a:r>
              <a:rPr sz="1450" b="0" dirty="0" err="1">
                <a:solidFill>
                  <a:srgbClr val="D8D3E2"/>
                </a:solidFill>
                <a:latin typeface="Gilmer Light"/>
              </a:rPr>
              <a:t>Yapay</a:t>
            </a:r>
            <a:r>
              <a:rPr sz="1450" b="0" dirty="0">
                <a:solidFill>
                  <a:srgbClr val="D8D3E2"/>
                </a:solidFill>
                <a:latin typeface="Gilmer Light"/>
              </a:rPr>
              <a:t> Zeka </a:t>
            </a:r>
            <a:r>
              <a:rPr sz="1450" b="0" dirty="0" err="1">
                <a:solidFill>
                  <a:srgbClr val="D8D3E2"/>
                </a:solidFill>
                <a:latin typeface="Gilmer Light"/>
              </a:rPr>
              <a:t>Destekli</a:t>
            </a:r>
            <a:r>
              <a:rPr sz="1450" b="0" dirty="0">
                <a:solidFill>
                  <a:srgbClr val="D8D3E2"/>
                </a:solidFill>
                <a:latin typeface="Gilmer Light"/>
              </a:rPr>
              <a:t> </a:t>
            </a:r>
            <a:r>
              <a:rPr sz="1450" b="0" dirty="0" err="1">
                <a:solidFill>
                  <a:srgbClr val="D8D3E2"/>
                </a:solidFill>
                <a:latin typeface="Gilmer Light"/>
              </a:rPr>
              <a:t>Havayolu</a:t>
            </a:r>
            <a:r>
              <a:rPr sz="1450" b="0" dirty="0">
                <a:solidFill>
                  <a:srgbClr val="D8D3E2"/>
                </a:solidFill>
                <a:latin typeface="Gilmer Light"/>
              </a:rPr>
              <a:t> </a:t>
            </a:r>
            <a:r>
              <a:rPr sz="1450" b="0" dirty="0" err="1">
                <a:solidFill>
                  <a:srgbClr val="D8D3E2"/>
                </a:solidFill>
                <a:latin typeface="Gilmer Light"/>
              </a:rPr>
              <a:t>Optimizasyonu</a:t>
            </a:r>
            <a:r>
              <a:rPr sz="1450" b="0" dirty="0">
                <a:solidFill>
                  <a:srgbClr val="D8D3E2"/>
                </a:solidFill>
                <a:latin typeface="Gilmer Light"/>
              </a:rPr>
              <a:t> — Final</a:t>
            </a:r>
            <a:r>
              <a:rPr lang="tr-TR" sz="1450" b="0" dirty="0">
                <a:solidFill>
                  <a:srgbClr val="D8D3E2"/>
                </a:solidFill>
                <a:latin typeface="Gilmer Light"/>
              </a:rPr>
              <a:t> Sunumu</a:t>
            </a:r>
            <a:endParaRPr lang="en-TR" sz="3200" dirty="0">
              <a:solidFill>
                <a:schemeClr val="bg1"/>
              </a:solidFill>
              <a:latin typeface="Gilmer Bold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993320-1F2B-5A05-E90E-C5508C603663}"/>
              </a:ext>
            </a:extLst>
          </p:cNvPr>
          <p:cNvSpPr txBox="1"/>
          <p:nvPr/>
        </p:nvSpPr>
        <p:spPr>
          <a:xfrm>
            <a:off x="1527048" y="599846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>
                <a:solidFill>
                  <a:schemeClr val="bg1"/>
                </a:solidFill>
                <a:latin typeface="Gilmer Light" pitchFamily="2" charset="77"/>
              </a:rPr>
              <a:t>11 Ağustos 2026</a:t>
            </a:r>
            <a:br>
              <a:rPr lang="tr-TR" sz="1400" dirty="0">
                <a:solidFill>
                  <a:schemeClr val="bg1"/>
                </a:solidFill>
                <a:latin typeface="Gilmer Light" pitchFamily="2" charset="77"/>
              </a:rPr>
            </a:br>
            <a:r>
              <a:rPr lang="tr-TR" sz="1400" dirty="0">
                <a:solidFill>
                  <a:schemeClr val="bg1"/>
                </a:solidFill>
                <a:latin typeface="Gilmer Light" pitchFamily="2" charset="77"/>
              </a:rPr>
              <a:t>Salı</a:t>
            </a:r>
            <a:endParaRPr lang="en-TR" sz="1400" dirty="0">
              <a:solidFill>
                <a:schemeClr val="bg1"/>
              </a:solidFill>
              <a:latin typeface="Gilmer Light" pitchFamily="2" charset="77"/>
            </a:endParaRPr>
          </a:p>
        </p:txBody>
      </p:sp>
      <p:pic>
        <p:nvPicPr>
          <p:cNvPr id="7" name="Picture 6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77C04B77-6F23-36AB-8747-EF9D76B48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841248"/>
            <a:ext cx="5486400" cy="722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27048" y="3529584"/>
            <a:ext cx="9144000" cy="310896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300">
                <a:solidFill>
                  <a:srgbClr val="9E96B8"/>
                </a:solidFill>
                <a:latin typeface="Gilmer Medium"/>
              </a:rPr>
              <a:t>TAKIM BÜKE</a:t>
            </a:r>
          </a:p>
        </p:txBody>
      </p:sp>
      <p:sp>
        <p:nvSpPr>
          <p:cNvPr id="11" name="Oval 10"/>
          <p:cNvSpPr/>
          <p:nvPr/>
        </p:nvSpPr>
        <p:spPr>
          <a:xfrm>
            <a:off x="1588312" y="3968496"/>
            <a:ext cx="1060704" cy="1060704"/>
          </a:xfrm>
          <a:prstGeom prst="ellipse">
            <a:avLst/>
          </a:prstGeom>
          <a:solidFill>
            <a:srgbClr val="FFFFFF">
              <a:alpha val="9000"/>
            </a:srgbClr>
          </a:solidFill>
          <a:ln w="17780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8D3E2"/>
                </a:solidFill>
                <a:latin typeface="Gilmer Bold"/>
              </a:rPr>
              <a:t>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" y="5157216"/>
            <a:ext cx="2560320" cy="7315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Gilmer Medium"/>
              </a:rPr>
              <a:t>Melih Ekizce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9B2CC"/>
                </a:solidFill>
                <a:latin typeface="Gilmer Light"/>
              </a:rPr>
              <a:t>İzmir Yüksek Teknoloji Enstitüsü</a:t>
            </a:r>
          </a:p>
        </p:txBody>
      </p:sp>
      <p:sp>
        <p:nvSpPr>
          <p:cNvPr id="13" name="Oval 12"/>
          <p:cNvSpPr/>
          <p:nvPr/>
        </p:nvSpPr>
        <p:spPr>
          <a:xfrm>
            <a:off x="4240072" y="3968496"/>
            <a:ext cx="1060704" cy="1060704"/>
          </a:xfrm>
          <a:prstGeom prst="ellipse">
            <a:avLst/>
          </a:prstGeom>
          <a:solidFill>
            <a:srgbClr val="FFFFFF">
              <a:alpha val="9000"/>
            </a:srgbClr>
          </a:solidFill>
          <a:ln w="17780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8D3E2"/>
                </a:solidFill>
                <a:latin typeface="Gilmer Bold"/>
              </a:rPr>
              <a:t>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0264" y="5157216"/>
            <a:ext cx="2560320" cy="7315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Gilmer Medium"/>
              </a:rPr>
              <a:t>Mustafa Eren Işıktaşlı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9B2CC"/>
                </a:solidFill>
                <a:latin typeface="Gilmer Light"/>
              </a:rPr>
              <a:t>Yıldız Teknik Üniversitesi</a:t>
            </a:r>
          </a:p>
        </p:txBody>
      </p:sp>
      <p:sp>
        <p:nvSpPr>
          <p:cNvPr id="15" name="Oval 14"/>
          <p:cNvSpPr/>
          <p:nvPr/>
        </p:nvSpPr>
        <p:spPr>
          <a:xfrm>
            <a:off x="6891832" y="3968496"/>
            <a:ext cx="1060704" cy="1060704"/>
          </a:xfrm>
          <a:prstGeom prst="ellipse">
            <a:avLst/>
          </a:prstGeom>
          <a:solidFill>
            <a:srgbClr val="FFFFFF">
              <a:alpha val="9000"/>
            </a:srgbClr>
          </a:solidFill>
          <a:ln w="17780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8D3E2"/>
                </a:solidFill>
                <a:latin typeface="Gilmer Bold"/>
              </a:rPr>
              <a:t>SÖ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2024" y="5157216"/>
            <a:ext cx="2560320" cy="7315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Gilmer Medium"/>
              </a:rPr>
              <a:t>Serhat Özdemir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9B2CC"/>
                </a:solidFill>
                <a:latin typeface="Gilmer Light"/>
              </a:rPr>
              <a:t>Dokuz Eylül Üniversitesi</a:t>
            </a:r>
          </a:p>
        </p:txBody>
      </p:sp>
      <p:sp>
        <p:nvSpPr>
          <p:cNvPr id="17" name="Oval 16"/>
          <p:cNvSpPr/>
          <p:nvPr/>
        </p:nvSpPr>
        <p:spPr>
          <a:xfrm>
            <a:off x="9543592" y="3968496"/>
            <a:ext cx="1060704" cy="1060704"/>
          </a:xfrm>
          <a:prstGeom prst="ellipse">
            <a:avLst/>
          </a:prstGeom>
          <a:solidFill>
            <a:srgbClr val="FFFFFF">
              <a:alpha val="9000"/>
            </a:srgbClr>
          </a:solidFill>
          <a:ln w="17780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8D3E2"/>
                </a:solidFill>
                <a:latin typeface="Gilmer Bold"/>
              </a:rPr>
              <a:t>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3784" y="5157216"/>
            <a:ext cx="2560320" cy="7315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Gilmer Medium"/>
              </a:rPr>
              <a:t>Mert Arı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9B2CC"/>
                </a:solidFill>
                <a:latin typeface="Gilmer Light"/>
              </a:rPr>
              <a:t>Uludağ Üniversitesi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C4D4"/>
                </a:solidFill>
                <a:latin typeface="Gilmer Medium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or, su, hafif, gec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C5DF197-5088-79D2-CCD3-0AD1DC1DCD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Resim 3" descr="yazı tipi, metin, grafik, logo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19DB9F1-123F-1C2D-464C-943FB8C11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00" y="5988718"/>
            <a:ext cx="1763285" cy="456821"/>
          </a:xfrm>
          <a:prstGeom prst="rect">
            <a:avLst/>
          </a:prstGeom>
        </p:spPr>
      </p:pic>
      <p:pic>
        <p:nvPicPr>
          <p:cNvPr id="5" name="Picture 4" descr="rou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6053328"/>
            <a:ext cx="148238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1014984"/>
            <a:ext cx="384048" cy="50292"/>
          </a:xfrm>
          <a:prstGeom prst="roundRect">
            <a:avLst>
              <a:gd name="adj" fmla="val 50000"/>
            </a:avLst>
          </a:prstGeom>
          <a:solidFill>
            <a:srgbClr val="CD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877824"/>
            <a:ext cx="9601200" cy="36576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70">
                <a:solidFill>
                  <a:srgbClr val="D8D3E2"/>
                </a:solidFill>
                <a:latin typeface="Gilmer Medium"/>
              </a:rPr>
              <a:t>TEKNOFEST · YAPAY ZEKÂ DESTEKLİ HAVAYOLU OPTİMİZASYONU · FİNAL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8778240" cy="182880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0">
                <a:solidFill>
                  <a:srgbClr val="FFFFFF"/>
                </a:solidFill>
                <a:latin typeface="Gilmer Bold"/>
              </a:rPr>
              <a:t>Rakip Odaklı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FFFFFF"/>
                </a:solidFill>
                <a:latin typeface="Gilmer Bold"/>
              </a:rPr>
              <a:t>Tarife </a:t>
            </a:r>
            <a:r>
              <a:rPr sz="3800" b="0">
                <a:solidFill>
                  <a:srgbClr val="E8474F"/>
                </a:solidFill>
                <a:latin typeface="Gilmer Bold"/>
              </a:rPr>
              <a:t>Optimizasyonu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5943600" cy="86868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B9B2CC"/>
                </a:solidFill>
                <a:latin typeface="Gilmer Light"/>
              </a:rPr>
              <a:t>İstanbul hub'ında </a:t>
            </a:r>
            <a:r>
              <a:rPr sz="1450" b="0">
                <a:solidFill>
                  <a:srgbClr val="FFFFFF"/>
                </a:solidFill>
                <a:latin typeface="Gilmer Medium"/>
              </a:rPr>
              <a:t>4 554 uçuş hareketinin saatini</a:t>
            </a:r>
            <a:r>
              <a:rPr sz="1450" b="0">
                <a:solidFill>
                  <a:srgbClr val="B9B2CC"/>
                </a:solidFill>
                <a:latin typeface="Gilmer Light"/>
              </a:rPr>
              <a:t>, matematiksel </a:t>
            </a:r>
            <a:r>
              <a:rPr sz="1450" b="0">
                <a:solidFill>
                  <a:srgbClr val="FFFFFF"/>
                </a:solidFill>
                <a:latin typeface="Gilmer Medium"/>
              </a:rPr>
              <a:t>kanıtla</a:t>
            </a:r>
            <a:r>
              <a:rPr sz="1450" b="0">
                <a:solidFill>
                  <a:srgbClr val="B9B2CC"/>
                </a:solidFill>
                <a:latin typeface="Gilmer Light"/>
              </a:rPr>
              <a:t> yeniden yazan MIP çözümü.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70832"/>
            <a:ext cx="2029968" cy="420624"/>
          </a:xfrm>
          <a:prstGeom prst="roundRect">
            <a:avLst>
              <a:gd name="adj" fmla="val 50000"/>
            </a:avLst>
          </a:prstGeom>
          <a:solidFill>
            <a:srgbClr val="2A1D42">
              <a:alpha val="78000"/>
            </a:srgbClr>
          </a:solidFill>
          <a:ln w="9525">
            <a:solidFill>
              <a:srgbClr val="8D84A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D3E2"/>
                </a:solidFill>
                <a:latin typeface="Consolas"/>
              </a:rPr>
              <a:t>Python · Pyomo · HiGHS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08376" y="4370832"/>
            <a:ext cx="2395728" cy="420624"/>
          </a:xfrm>
          <a:prstGeom prst="roundRect">
            <a:avLst>
              <a:gd name="adj" fmla="val 50000"/>
            </a:avLst>
          </a:prstGeom>
          <a:solidFill>
            <a:srgbClr val="2A1D42">
              <a:alpha val="78000"/>
            </a:srgbClr>
          </a:solidFill>
          <a:ln w="9525">
            <a:solidFill>
              <a:srgbClr val="8D84A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D3E2"/>
                </a:solidFill>
                <a:latin typeface="Consolas"/>
              </a:rPr>
              <a:t>J = E₁ + g + E₂ · 60–300 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5272" y="4370832"/>
            <a:ext cx="1755648" cy="420624"/>
          </a:xfrm>
          <a:prstGeom prst="roundRect">
            <a:avLst>
              <a:gd name="adj" fmla="val 50000"/>
            </a:avLst>
          </a:prstGeom>
          <a:solidFill>
            <a:srgbClr val="2A1D42">
              <a:alpha val="78000"/>
            </a:srgbClr>
          </a:solidFill>
          <a:ln w="9525">
            <a:solidFill>
              <a:srgbClr val="8D84A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D3E2"/>
                </a:solidFill>
                <a:latin typeface="Consolas"/>
              </a:rPr>
              <a:t>±60 dk · 10 dk kova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138928"/>
            <a:ext cx="635508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321808"/>
            <a:ext cx="1783080" cy="91440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E8474F"/>
                </a:solidFill>
                <a:latin typeface="Gilmer Bold"/>
              </a:rPr>
              <a:t>+%4,72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3AB"/>
                </a:solidFill>
                <a:latin typeface="Gilmer Light"/>
              </a:rPr>
              <a:t>gelir-ağırlıklı rekabetçilik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5321808"/>
            <a:ext cx="1783080" cy="91440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Gilmer Bold"/>
              </a:rPr>
              <a:t>%1,18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3AB"/>
                </a:solidFill>
                <a:latin typeface="Gilmer Light"/>
              </a:rPr>
              <a:t>kanıtlı küresel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321808"/>
            <a:ext cx="1783080" cy="91440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Gilmer Bold"/>
              </a:rPr>
              <a:t>18/18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3AB"/>
                </a:solidFill>
                <a:latin typeface="Gilmer Light"/>
              </a:rPr>
              <a:t>bağımsız doğrulama ·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21808"/>
            <a:ext cx="1783080" cy="91440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Gilmer Bold"/>
              </a:rPr>
              <a:t>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3AB"/>
                </a:solidFill>
                <a:latin typeface="Gilmer Light"/>
              </a:rPr>
              <a:t>kısıt ihlali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C4D4"/>
                </a:solidFill>
                <a:latin typeface="Gilmer Medium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Model: A–G Doğrusal MIP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3/10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05840"/>
            <a:ext cx="11548872" cy="713232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22F"/>
                </a:solidFill>
                <a:latin typeface="Consolas"/>
              </a:rPr>
              <a:t>max  Σ ρ_od [ Σ Wᶜ·z + Σ Wʳ·γ ]  −  λ·Σ |θ − cur|      </a:t>
            </a:r>
            <a:r>
              <a:rPr sz="1150" b="0">
                <a:solidFill>
                  <a:srgbClr val="6E6A78"/>
                </a:solidFill>
                <a:latin typeface="Gilmer Light"/>
              </a:rPr>
              <a:t>λ = 0.3 · iyileşme cezasız raporlanır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56816"/>
            <a:ext cx="11521440" cy="36576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35D7"/>
                </a:solidFill>
                <a:latin typeface="Gilmer Medium"/>
              </a:rPr>
              <a:t>Karar:  </a:t>
            </a:r>
            <a:r>
              <a:rPr sz="1300" b="0">
                <a:solidFill>
                  <a:srgbClr val="1C122F"/>
                </a:solidFill>
                <a:latin typeface="Gilmer Light"/>
              </a:rPr>
              <a:t>x[r,t] kova ataması  ·  y[π] bağlantı sunumu  ·  z, w, β, γ ödül–sıralama seçicileri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542032"/>
            <a:ext cx="2843784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0035D7"/>
                </a:solidFill>
                <a:latin typeface="Gilmer Bold"/>
              </a:rPr>
              <a:t>A   </a:t>
            </a:r>
            <a:r>
              <a:rPr sz="1350" b="0">
                <a:solidFill>
                  <a:srgbClr val="1C122F"/>
                </a:solidFill>
                <a:latin typeface="Gilmer Medium"/>
              </a:rPr>
              <a:t>Rotasyon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brief-exact · ihlal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8980" y="2542032"/>
            <a:ext cx="2843784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0035D7"/>
                </a:solidFill>
                <a:latin typeface="Gilmer Bold"/>
              </a:rPr>
              <a:t>B   </a:t>
            </a:r>
            <a:r>
              <a:rPr sz="1350" b="0">
                <a:solidFill>
                  <a:srgbClr val="1C122F"/>
                </a:solidFill>
                <a:latin typeface="Gilmer Medium"/>
              </a:rPr>
              <a:t>Boşluk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g ∈ [60, 300] 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42032"/>
            <a:ext cx="2843784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9E55A0"/>
                </a:solidFill>
                <a:latin typeface="Gilmer Bold"/>
              </a:rPr>
              <a:t>C   </a:t>
            </a:r>
            <a:r>
              <a:rPr sz="1350" b="0">
                <a:solidFill>
                  <a:srgbClr val="1C122F"/>
                </a:solidFill>
                <a:latin typeface="Gilmer Medium"/>
              </a:rPr>
              <a:t>Azalan getiri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1 · ½ · ¼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66860" y="2542032"/>
            <a:ext cx="2843784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9E55A0"/>
                </a:solidFill>
                <a:latin typeface="Gilmer Bold"/>
              </a:rPr>
              <a:t>D   </a:t>
            </a:r>
            <a:r>
              <a:rPr sz="1350" b="0">
                <a:solidFill>
                  <a:srgbClr val="1C122F"/>
                </a:solidFill>
                <a:latin typeface="Gilmer Medium"/>
              </a:rPr>
              <a:t>Rakip yenme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J ≤ T_comp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986783"/>
            <a:ext cx="2843784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C1C51"/>
                </a:solidFill>
                <a:latin typeface="Gilmer Bold"/>
              </a:rPr>
              <a:t>E   </a:t>
            </a:r>
            <a:r>
              <a:rPr sz="1350" b="0">
                <a:solidFill>
                  <a:srgbClr val="1C122F"/>
                </a:solidFill>
                <a:latin typeface="Gilmer Medium"/>
              </a:rPr>
              <a:t>Yön dengesi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α = 0.20 · ihlal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8980" y="3986783"/>
            <a:ext cx="2843784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C1C51"/>
                </a:solidFill>
                <a:latin typeface="Gilmer Bold"/>
              </a:rPr>
              <a:t>F   </a:t>
            </a:r>
            <a:r>
              <a:rPr sz="1350" b="0">
                <a:solidFill>
                  <a:srgbClr val="1C122F"/>
                </a:solidFill>
                <a:latin typeface="Gilmer Medium"/>
              </a:rPr>
              <a:t>IST kapasitesi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10 kalkış / 15 varış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86783"/>
            <a:ext cx="2843784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CD2028"/>
                </a:solidFill>
                <a:latin typeface="Gilmer Bold"/>
              </a:rPr>
              <a:t>G   </a:t>
            </a:r>
            <a:r>
              <a:rPr sz="1350" b="0">
                <a:solidFill>
                  <a:srgbClr val="1C122F"/>
                </a:solidFill>
                <a:latin typeface="Gilmer Medium"/>
              </a:rPr>
              <a:t>Düzenlilik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günler arası ±15 dk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6860" y="3986783"/>
            <a:ext cx="2843784" cy="1298448"/>
          </a:xfrm>
          <a:prstGeom prst="roundRect">
            <a:avLst>
              <a:gd name="adj" fmla="val 5500"/>
            </a:avLst>
          </a:prstGeom>
          <a:solidFill>
            <a:srgbClr val="FB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CD2028"/>
                </a:solidFill>
                <a:latin typeface="Gilmer Bold"/>
              </a:rPr>
              <a:t>Σ   </a:t>
            </a:r>
            <a:r>
              <a:rPr sz="1350" b="0">
                <a:solidFill>
                  <a:srgbClr val="1C122F"/>
                </a:solidFill>
                <a:latin typeface="Gilmer Medium"/>
              </a:rPr>
              <a:t>Sıkılık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M'siz ceza · yön-yerel 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577840"/>
            <a:ext cx="11548872" cy="512064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1C51"/>
                </a:solidFill>
                <a:latin typeface="Gilmer Medium"/>
              </a:rPr>
              <a:t>Doğrusallaştırma bizde: </a:t>
            </a:r>
            <a:r>
              <a:rPr sz="1150" b="0">
                <a:solidFill>
                  <a:srgbClr val="6E6A78"/>
                </a:solidFill>
                <a:latin typeface="Gilmer Light"/>
              </a:rPr>
              <a:t>büyük-M'siz ceza terimi · yön-yerel M · ön-işlemeyle M'siz yenme · monoton slot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Çözüm: İki Aşama + Bağımsız Doğrulama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4/10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3584448" cy="2103120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35D7"/>
                </a:solidFill>
                <a:latin typeface="Gilmer Bold"/>
              </a:rPr>
              <a:t>AŞAMA 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1C122F"/>
                </a:solidFill>
                <a:latin typeface="Gilmer Medium"/>
              </a:rPr>
              <a:t>Güne Ayrıştırma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E6A78"/>
                </a:solidFill>
                <a:latin typeface="Gilmer Light"/>
              </a:rPr>
              <a:t>7 × günlük MIP (~17 bin ikili)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E6A78"/>
                </a:solidFill>
                <a:latin typeface="Gilmer Light"/>
              </a:rPr>
              <a:t>~1,5 dk · gün-içi gap ≤ %0,1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63040"/>
            <a:ext cx="45720" cy="2103120"/>
          </a:xfrm>
          <a:prstGeom prst="roundRect">
            <a:avLst>
              <a:gd name="adj" fmla="val 50000"/>
            </a:avLst>
          </a:prstGeom>
          <a:solidFill>
            <a:srgbClr val="003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3954779" y="2350008"/>
            <a:ext cx="292608" cy="329184"/>
          </a:xfrm>
          <a:prstGeom prst="rightArrow">
            <a:avLst/>
          </a:prstGeom>
          <a:solidFill>
            <a:srgbClr val="C9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88536" y="1463040"/>
            <a:ext cx="3584448" cy="2103120"/>
          </a:xfrm>
          <a:prstGeom prst="roundRect">
            <a:avLst>
              <a:gd name="adj" fmla="val 5500"/>
            </a:avLst>
          </a:prstGeom>
          <a:solidFill>
            <a:srgbClr val="F6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E55A0"/>
                </a:solidFill>
                <a:latin typeface="Gilmer Bold"/>
              </a:rPr>
              <a:t>AŞAMA 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1C122F"/>
                </a:solidFill>
                <a:latin typeface="Gilmer Medium"/>
              </a:rPr>
              <a:t>Tam-Hafta Cilalama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E6A78"/>
                </a:solidFill>
                <a:latin typeface="Gilmer Light"/>
              </a:rPr>
              <a:t>MIP-start ile 100 552 ikili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E6A78"/>
                </a:solidFill>
                <a:latin typeface="Gilmer Light"/>
              </a:rPr>
              <a:t>≤ 30 dk · küresel gap %1,18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463040"/>
            <a:ext cx="45720" cy="2103120"/>
          </a:xfrm>
          <a:prstGeom prst="roundRect">
            <a:avLst>
              <a:gd name="adj" fmla="val 50000"/>
            </a:avLst>
          </a:prstGeom>
          <a:solidFill>
            <a:srgbClr val="9E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7923275" y="2350008"/>
            <a:ext cx="292608" cy="329184"/>
          </a:xfrm>
          <a:prstGeom prst="rightArrow">
            <a:avLst/>
          </a:prstGeom>
          <a:solidFill>
            <a:srgbClr val="C9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57031" y="1463040"/>
            <a:ext cx="3584448" cy="2103120"/>
          </a:xfrm>
          <a:prstGeom prst="roundRect">
            <a:avLst>
              <a:gd name="adj" fmla="val 5500"/>
            </a:avLst>
          </a:prstGeom>
          <a:solidFill>
            <a:srgbClr val="FB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D2028"/>
                </a:solidFill>
                <a:latin typeface="Gilmer Bold"/>
              </a:rPr>
              <a:t>KONTROL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1C122F"/>
                </a:solidFill>
                <a:latin typeface="Gilmer Medium"/>
              </a:rPr>
              <a:t>Bağımsız Doğrulayıcı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E6A78"/>
                </a:solidFill>
                <a:latin typeface="Gilmer Light"/>
              </a:rPr>
              <a:t>18 kontrol · çift kayıt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E6A78"/>
                </a:solidFill>
                <a:latin typeface="Gilmer Light"/>
              </a:rPr>
              <a:t>FAIL → koşu durur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7031" y="1463040"/>
            <a:ext cx="45720" cy="2103120"/>
          </a:xfrm>
          <a:prstGeom prst="roundRect">
            <a:avLst>
              <a:gd name="adj" fmla="val 50000"/>
            </a:avLst>
          </a:prstGeom>
          <a:solidFill>
            <a:srgbClr val="CD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0040" y="4041648"/>
            <a:ext cx="11548872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35D7"/>
                </a:solidFill>
                <a:latin typeface="Consolas"/>
              </a:rPr>
              <a:t>python run_all.py</a:t>
            </a:r>
            <a:r>
              <a:rPr sz="1200" b="0">
                <a:solidFill>
                  <a:srgbClr val="6E6A78"/>
                </a:solidFill>
                <a:latin typeface="Gilmer Light"/>
              </a:rPr>
              <a:t>      uçtan uca ~35–40 dk · doğrulayıcı FAIL verirse durur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74336"/>
            <a:ext cx="11548872" cy="731520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51"/>
                </a:solidFill>
                <a:latin typeface="Gilmer Medium"/>
              </a:rPr>
              <a:t>HiGHS — açık kaynak: </a:t>
            </a:r>
            <a:r>
              <a:rPr sz="1200" b="0">
                <a:solidFill>
                  <a:srgbClr val="6E6A78"/>
                </a:solidFill>
                <a:latin typeface="Gilmer Light"/>
              </a:rPr>
              <a:t>lisanssız her makinede koşar · threads=1, seed=0 → deterministik · açık ticari çözücüyle değil, sıkı formülasyonla hızlandık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Yenilik 1: λ Tarife-Değişim Cezası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5/10</a:t>
            </a:r>
          </a:p>
        </p:txBody>
      </p:sp>
      <p:pic>
        <p:nvPicPr>
          <p:cNvPr id="9" name="Picture 8" descr="fig_pare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88720"/>
            <a:ext cx="7589520" cy="3595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4956048"/>
            <a:ext cx="7589520" cy="45720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λ = 0.3 “diz” noktası — aşama-1 taraması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188720"/>
            <a:ext cx="3593592" cy="1188720"/>
          </a:xfrm>
          <a:prstGeom prst="roundRect">
            <a:avLst>
              <a:gd name="adj" fmla="val 5500"/>
            </a:avLst>
          </a:prstGeom>
          <a:solidFill>
            <a:srgbClr val="FB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CD2028"/>
                </a:solidFill>
                <a:latin typeface="Gilmer Bold"/>
              </a:rPr>
              <a:t>%92 → %25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kaydırılan uçuş payı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188720"/>
            <a:ext cx="45720" cy="1188720"/>
          </a:xfrm>
          <a:prstGeom prst="roundRect">
            <a:avLst>
              <a:gd name="adj" fmla="val 50000"/>
            </a:avLst>
          </a:prstGeom>
          <a:solidFill>
            <a:srgbClr val="CD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75320" y="2542032"/>
            <a:ext cx="3593592" cy="1188720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0035D7"/>
                </a:solidFill>
                <a:latin typeface="Gilmer Bold"/>
              </a:rPr>
              <a:t>+%3,89 → +%4,32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kazanım aynı anda YÜKSELDİ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542032"/>
            <a:ext cx="45720" cy="1188720"/>
          </a:xfrm>
          <a:prstGeom prst="roundRect">
            <a:avLst>
              <a:gd name="adj" fmla="val 50000"/>
            </a:avLst>
          </a:prstGeom>
          <a:solidFill>
            <a:srgbClr val="003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75320" y="3895344"/>
            <a:ext cx="3593592" cy="1188720"/>
          </a:xfrm>
          <a:prstGeom prst="roundRect">
            <a:avLst>
              <a:gd name="adj" fmla="val 5500"/>
            </a:avLst>
          </a:prstGeom>
          <a:solidFill>
            <a:srgbClr val="F6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9E55A0"/>
                </a:solidFill>
                <a:latin typeface="Gilmer Bold"/>
              </a:rPr>
              <a:t>M'siz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|θ−cur| = Σ|t−cur|·x — ek değişken yok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895344"/>
            <a:ext cx="45720" cy="1188720"/>
          </a:xfrm>
          <a:prstGeom prst="roundRect">
            <a:avLst>
              <a:gd name="adj" fmla="val 50000"/>
            </a:avLst>
          </a:prstGeom>
          <a:solidFill>
            <a:srgbClr val="9E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75320" y="5248656"/>
            <a:ext cx="3593592" cy="859536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1C51"/>
                </a:solidFill>
                <a:latin typeface="Gilmer Medium"/>
              </a:rPr>
              <a:t>Nihai: </a:t>
            </a:r>
            <a:r>
              <a:rPr sz="1200" b="0">
                <a:solidFill>
                  <a:srgbClr val="6E6A78"/>
                </a:solidFill>
                <a:latin typeface="Gilmer Light"/>
              </a:rPr>
              <a:t>%23 · ort. 19 dk · %77 yerinde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Yenilik 2–3: Tam-Hafta Cilalama · Çift-Kayıt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6/10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280160"/>
            <a:ext cx="5614416" cy="3017520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0035D7"/>
                </a:solidFill>
                <a:latin typeface="Gilmer Bold"/>
              </a:rPr>
              <a:t>TAM-HAFTA MIP-START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1C122F"/>
                </a:solidFill>
                <a:latin typeface="Gilmer Bold"/>
              </a:rPr>
              <a:t>+14 752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6E6A78"/>
                </a:solidFill>
                <a:latin typeface="Gilmer Light"/>
              </a:rPr>
              <a:t>ek puan, aşama-1 üzerine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0035D7"/>
                </a:solidFill>
                <a:latin typeface="Gilmer Medium"/>
              </a:rPr>
              <a:t>küresel gap %1,18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A78"/>
                </a:solidFill>
                <a:latin typeface="Gilmer Light"/>
              </a:rPr>
              <a:t>“iyi sezgisel” değil — kanıtlı yakın-optimum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80160"/>
            <a:ext cx="45720" cy="3017520"/>
          </a:xfrm>
          <a:prstGeom prst="roundRect">
            <a:avLst>
              <a:gd name="adj" fmla="val 50000"/>
            </a:avLst>
          </a:prstGeom>
          <a:solidFill>
            <a:srgbClr val="003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54496" y="1280160"/>
            <a:ext cx="5614416" cy="3017520"/>
          </a:xfrm>
          <a:prstGeom prst="roundRect">
            <a:avLst>
              <a:gd name="adj" fmla="val 5500"/>
            </a:avLst>
          </a:prstGeom>
          <a:solidFill>
            <a:srgbClr val="F6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E55A0"/>
                </a:solidFill>
                <a:latin typeface="Gilmer Bold"/>
              </a:rPr>
              <a:t>ÇİFT-KAYIT DOĞRULAYICI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1C122F"/>
                </a:solidFill>
                <a:latin typeface="Gilmer Bold"/>
              </a:rPr>
              <a:t>18/18 PASS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6E6A78"/>
                </a:solidFill>
                <a:latin typeface="Gilmer Light"/>
              </a:rPr>
              <a:t>çözüm, üreten koddan bağımsız yeniden hesaplanır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E55A0"/>
                </a:solidFill>
                <a:latin typeface="Consolas"/>
              </a:rPr>
              <a:t>python src/05_validate_solution.py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A78"/>
                </a:solidFill>
                <a:latin typeface="Gilmer Light"/>
              </a:rPr>
              <a:t>jüri tek komutla kendisi denetleyebilir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280160"/>
            <a:ext cx="45720" cy="3017520"/>
          </a:xfrm>
          <a:prstGeom prst="roundRect">
            <a:avLst>
              <a:gd name="adj" fmla="val 50000"/>
            </a:avLst>
          </a:prstGeom>
          <a:solidFill>
            <a:srgbClr val="9E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0040" y="4626864"/>
            <a:ext cx="11548872" cy="658368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1C51"/>
                </a:solidFill>
                <a:latin typeface="Gilmer Medium"/>
              </a:rPr>
              <a:t>Preaudit kültürü: </a:t>
            </a:r>
            <a:r>
              <a:rPr sz="1200" b="0">
                <a:solidFill>
                  <a:srgbClr val="6E6A78"/>
                </a:solidFill>
                <a:latin typeface="Gilmer Light"/>
              </a:rPr>
              <a:t>kendi skorumuza da saldırdık — ızgara payı, rotasyon kapsamı, marjlar ayrı ayrı ölçüldü.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or, su, hafif, gec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C5DF197-5088-79D2-CCD3-0AD1DC1DCD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Resim 3" descr="yazı tipi, metin, grafik, logo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19DB9F1-123F-1C2D-464C-943FB8C11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00" y="5988718"/>
            <a:ext cx="1763285" cy="456821"/>
          </a:xfrm>
          <a:prstGeom prst="rect">
            <a:avLst/>
          </a:prstGeom>
        </p:spPr>
      </p:pic>
      <p:sp>
        <p:nvSpPr>
          <p:cNvPr id="6" name="Google Shape;12;p3">
            <a:extLst>
              <a:ext uri="{FF2B5EF4-FFF2-40B4-BE49-F238E27FC236}">
                <a16:creationId xmlns:a16="http://schemas.microsoft.com/office/drawing/2014/main" id="{7EE05496-90CA-1905-A775-568FBC8423C5}"/>
              </a:ext>
            </a:extLst>
          </p:cNvPr>
          <p:cNvSpPr txBox="1"/>
          <p:nvPr/>
        </p:nvSpPr>
        <p:spPr>
          <a:xfrm flipH="1">
            <a:off x="658368" y="566928"/>
            <a:ext cx="1088136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tr-TR" sz="4000" b="1" dirty="0">
                <a:solidFill>
                  <a:schemeClr val="bg1"/>
                </a:solidFill>
                <a:latin typeface="Gilmer Bold" panose="020B0604020202020204" pitchFamily="34" charset="0"/>
                <a:cs typeface="Arial" panose="020B0604020202020204" pitchFamily="34" charset="0"/>
                <a:sym typeface="Lexend Medium"/>
              </a:rPr>
              <a:t>Sonuçlar</a:t>
            </a:r>
            <a:endParaRPr lang="da-DK" sz="4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C4D4"/>
                </a:solidFill>
                <a:latin typeface="Gilmer Medium"/>
              </a:rPr>
              <a:t>7/10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12081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70078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FFFFFF"/>
                </a:solidFill>
                <a:latin typeface="Gilmer Bold"/>
              </a:rPr>
              <a:t>+%4,72  </a:t>
            </a:r>
            <a:r>
              <a:rPr sz="1400" b="0">
                <a:solidFill>
                  <a:srgbClr val="E4E0EC"/>
                </a:solidFill>
                <a:latin typeface="Gilmer Medium"/>
              </a:rPr>
              <a:t>rekabetçilik iyileşmesi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DB7CC"/>
                </a:solidFill>
                <a:latin typeface="Gilmer Light"/>
              </a:rPr>
              <a:t>3 405 039 — baseline 3 251 527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71216"/>
            <a:ext cx="5468112" cy="54864"/>
          </a:xfrm>
          <a:prstGeom prst="roundRect">
            <a:avLst>
              <a:gd name="adj" fmla="val 50000"/>
            </a:avLst>
          </a:prstGeom>
          <a:solidFill>
            <a:srgbClr val="CD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170078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12081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27648" y="170078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FFFFFF"/>
                </a:solidFill>
                <a:latin typeface="Gilmer Bold"/>
              </a:rPr>
              <a:t>%1,18  </a:t>
            </a:r>
            <a:r>
              <a:rPr sz="1400" b="0">
                <a:solidFill>
                  <a:srgbClr val="E4E0EC"/>
                </a:solidFill>
                <a:latin typeface="Gilmer Medium"/>
              </a:rPr>
              <a:t>küresel MIP-gap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DB7CC"/>
                </a:solidFill>
                <a:latin typeface="Gilmer Light"/>
              </a:rPr>
              <a:t>kanıtlı yakın-optimum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871216"/>
            <a:ext cx="5468112" cy="54864"/>
          </a:xfrm>
          <a:prstGeom prst="roundRect">
            <a:avLst>
              <a:gd name="adj" fmla="val 50000"/>
            </a:avLst>
          </a:prstGeom>
          <a:solidFill>
            <a:srgbClr val="018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316382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12081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316382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FFFFFF"/>
                </a:solidFill>
                <a:latin typeface="Gilmer Bold"/>
              </a:rPr>
              <a:t>%23  </a:t>
            </a:r>
            <a:r>
              <a:rPr sz="1400" b="0">
                <a:solidFill>
                  <a:srgbClr val="E4E0EC"/>
                </a:solidFill>
                <a:latin typeface="Gilmer Medium"/>
              </a:rPr>
              <a:t>hareket kaydırıldı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DB7CC"/>
                </a:solidFill>
                <a:latin typeface="Gilmer Light"/>
              </a:rPr>
              <a:t>1 067 / 4 554 · ort. 19 dk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334256"/>
            <a:ext cx="5468112" cy="54864"/>
          </a:xfrm>
          <a:prstGeom prst="roundRect">
            <a:avLst>
              <a:gd name="adj" fmla="val 50000"/>
            </a:avLst>
          </a:prstGeom>
          <a:solidFill>
            <a:srgbClr val="9E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27648" y="316382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12081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27648" y="316382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FFFFFF"/>
                </a:solidFill>
                <a:latin typeface="Gilmer Bold"/>
              </a:rPr>
              <a:t>18/18  </a:t>
            </a:r>
            <a:r>
              <a:rPr sz="1400" b="0">
                <a:solidFill>
                  <a:srgbClr val="E4E0EC"/>
                </a:solidFill>
                <a:latin typeface="Gilmer Medium"/>
              </a:rPr>
              <a:t>doğrulama PASS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DB7CC"/>
                </a:solidFill>
                <a:latin typeface="Gilmer Light"/>
              </a:rPr>
              <a:t>amaç + baseline birebir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4334256"/>
            <a:ext cx="5468112" cy="54864"/>
          </a:xfrm>
          <a:prstGeom prst="roundRect">
            <a:avLst>
              <a:gd name="adj" fmla="val 50000"/>
            </a:avLst>
          </a:prstGeom>
          <a:solidFill>
            <a:srgbClr val="018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4791456"/>
            <a:ext cx="11155680" cy="7315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DB7CC"/>
                </a:solidFill>
                <a:latin typeface="Gilmer Light"/>
              </a:rPr>
              <a:t>6 966 bağlantı  ·  7 güne dengeli  ·  G gevşetme 0  ·  yeni rotasyon ihlali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Bağımsız Doğrulama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8/10</a:t>
            </a:r>
          </a:p>
        </p:txBody>
      </p:sp>
      <p:pic>
        <p:nvPicPr>
          <p:cNvPr id="9" name="Picture 8" descr="fig_gunlu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88720"/>
            <a:ext cx="6309360" cy="29886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4315968"/>
            <a:ext cx="6309360" cy="45720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A78"/>
                </a:solidFill>
                <a:latin typeface="Gilmer Light"/>
              </a:rPr>
              <a:t>İyileşme 7 güne dengeli — tek güne yığılma yok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188720"/>
            <a:ext cx="4965192" cy="3108960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0035D7"/>
                </a:solidFill>
                <a:latin typeface="Gilmer Bold"/>
              </a:rPr>
              <a:t>18 KONTROL — TÜMÜ PASS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300" b="0">
                <a:solidFill>
                  <a:srgbClr val="1C122F"/>
                </a:solidFill>
                <a:latin typeface="Gilmer Medium"/>
              </a:rPr>
              <a:t>A1 · A2 · F · G</a:t>
            </a:r>
            <a:r>
              <a:rPr sz="1100" b="0">
                <a:solidFill>
                  <a:srgbClr val="6E6A78"/>
                </a:solidFill>
                <a:latin typeface="Gilmer Light"/>
              </a:rPr>
              <a:t>  —  ızgara, rotasyon, kapasite, bant — ihlal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300" b="0">
                <a:solidFill>
                  <a:srgbClr val="1C122F"/>
                </a:solidFill>
                <a:latin typeface="Gilmer Medium"/>
              </a:rPr>
              <a:t>B1 · C · D</a:t>
            </a:r>
            <a:r>
              <a:rPr sz="1100" b="0">
                <a:solidFill>
                  <a:srgbClr val="6E6A78"/>
                </a:solidFill>
                <a:latin typeface="Gilmer Light"/>
              </a:rPr>
              <a:t>  —  6 966 bağlantı; ödül ve sıralama birebir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300" b="0">
                <a:solidFill>
                  <a:srgbClr val="1C122F"/>
                </a:solidFill>
                <a:latin typeface="Gilmer Medium"/>
              </a:rPr>
              <a:t>E1</a:t>
            </a:r>
            <a:r>
              <a:rPr sz="1100" b="0">
                <a:solidFill>
                  <a:srgbClr val="6E6A78"/>
                </a:solidFill>
                <a:latin typeface="Gilmer Light"/>
              </a:rPr>
              <a:t>  —  2 001 yön çifti — ihlal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300" b="0">
                <a:solidFill>
                  <a:srgbClr val="1C122F"/>
                </a:solidFill>
                <a:latin typeface="Gilmer Medium"/>
              </a:rPr>
              <a:t>Amaç + baseline</a:t>
            </a:r>
            <a:r>
              <a:rPr sz="1100" b="0">
                <a:solidFill>
                  <a:srgbClr val="6E6A78"/>
                </a:solidFill>
                <a:latin typeface="Gilmer Light"/>
              </a:rPr>
              <a:t>  —  3 405 039 / 3 251 527 yeniden hesapla birebir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517136"/>
            <a:ext cx="4965192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35D7"/>
                </a:solidFill>
                <a:latin typeface="Consolas"/>
              </a:rPr>
              <a:t>python src/05_validate_solution.py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Şeffaflık ve Yol Haritası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9/10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05840"/>
            <a:ext cx="5486400" cy="36576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C122F"/>
                </a:solidFill>
                <a:latin typeface="Gilmer Medium"/>
              </a:rPr>
              <a:t>Sınırları biz raporluyoruz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44752"/>
            <a:ext cx="5614416" cy="3291840"/>
          </a:xfrm>
          <a:prstGeom prst="roundRect">
            <a:avLst>
              <a:gd name="adj" fmla="val 5500"/>
            </a:avLst>
          </a:prstGeom>
          <a:solidFill>
            <a:srgbClr val="F6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9E55A0"/>
                </a:solidFill>
                <a:latin typeface="Gilmer Medium"/>
              </a:rPr>
              <a:t>•  Izgara payı:</a:t>
            </a:r>
            <a:r>
              <a:rPr sz="1250" b="0">
                <a:solidFill>
                  <a:srgbClr val="1C122F"/>
                </a:solidFill>
                <a:latin typeface="Gilmer Light"/>
              </a:rPr>
              <a:t> ızgara-tutarlı iyileşme +%4,03 — ayrık payı preaudit'te ayrıştırıldı.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9E55A0"/>
                </a:solidFill>
                <a:latin typeface="Gilmer Medium"/>
              </a:rPr>
              <a:t>•  E2 kapalı:</a:t>
            </a:r>
            <a:r>
              <a:rPr sz="1250" b="0">
                <a:solidFill>
                  <a:srgbClr val="1C122F"/>
                </a:solidFill>
                <a:latin typeface="Gilmer Light"/>
              </a:rPr>
              <a:t> çiftlerin %76'sı Γ=30'u yapısal aşıyor; iki bağımsız kanıtla belgelendi.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9E55A0"/>
                </a:solidFill>
                <a:latin typeface="Gilmer Medium"/>
              </a:rPr>
              <a:t>•  B2 kapalı:</a:t>
            </a:r>
            <a:r>
              <a:rPr sz="1250" b="0">
                <a:solidFill>
                  <a:srgbClr val="1C122F"/>
                </a:solidFill>
                <a:latin typeface="Gilmer Light"/>
              </a:rPr>
              <a:t> E1 ile çatışıyor; adayların %90'ı zaten sunuluyor.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9E55A0"/>
                </a:solidFill>
                <a:latin typeface="Gilmer Medium"/>
              </a:rPr>
              <a:t>•  Rotasyon kapsamı:</a:t>
            </a:r>
            <a:r>
              <a:rPr sz="1250" b="0">
                <a:solidFill>
                  <a:srgbClr val="1C122F"/>
                </a:solidFill>
                <a:latin typeface="Gilmer Light"/>
              </a:rPr>
              <a:t> pair sezonu uyumsuz — 221 uçuşta kısıt kurulamıyor (veri sınırı).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1005840"/>
            <a:ext cx="5486400" cy="36576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C122F"/>
                </a:solidFill>
                <a:latin typeface="Gilmer Medium"/>
              </a:rPr>
              <a:t>Geliştirme ufku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1656" y="1444752"/>
            <a:ext cx="5477256" cy="3291840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C1C51"/>
                </a:solidFill>
                <a:latin typeface="Gilmer Medium"/>
              </a:rPr>
              <a:t>→  Soft-E2</a:t>
            </a:r>
            <a:r>
              <a:rPr sz="1250" b="0">
                <a:solidFill>
                  <a:srgbClr val="1C122F"/>
                </a:solidFill>
                <a:latin typeface="Gilmer Light"/>
              </a:rPr>
              <a:t> — dengesizliği ceza olarak modelle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C1C51"/>
                </a:solidFill>
                <a:latin typeface="Gilmer Medium"/>
              </a:rPr>
              <a:t>→  Gap ↓</a:t>
            </a:r>
            <a:r>
              <a:rPr sz="1250" b="0">
                <a:solidFill>
                  <a:srgbClr val="1C122F"/>
                </a:solidFill>
                <a:latin typeface="Gilmer Light"/>
              </a:rPr>
              <a:t> — ticari çözücü / uzun cilalama / indicator constraints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C1C51"/>
                </a:solidFill>
                <a:latin typeface="Gilmer Medium"/>
              </a:rPr>
              <a:t>→  Akıllı λ</a:t>
            </a:r>
            <a:r>
              <a:rPr sz="1250" b="0">
                <a:solidFill>
                  <a:srgbClr val="1C122F"/>
                </a:solidFill>
                <a:latin typeface="Gilmer Light"/>
              </a:rPr>
              <a:t> — ρ-ölçekli, uçuş-bazlı ceza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C1C51"/>
                </a:solidFill>
                <a:latin typeface="Gilmer Medium"/>
              </a:rPr>
              <a:t>→  YZ entegrasyonu</a:t>
            </a:r>
            <a:r>
              <a:rPr sz="1250" b="0">
                <a:solidFill>
                  <a:srgbClr val="1C122F"/>
                </a:solidFill>
                <a:latin typeface="Gilmer Light"/>
              </a:rPr>
              <a:t> — talep tahmini, öğrenilmiş parametreler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5029200"/>
            <a:ext cx="11548872" cy="566928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35D7"/>
                </a:solidFill>
                <a:latin typeface="Gilmer Medium"/>
              </a:rPr>
              <a:t>Gizli test hazır: </a:t>
            </a:r>
            <a:r>
              <a:rPr sz="1150" b="0">
                <a:solidFill>
                  <a:srgbClr val="6E6A78"/>
                </a:solidFill>
                <a:latin typeface="Gilmer Light"/>
              </a:rPr>
              <a:t>gün · pazar · rakip veriden türetilir; hardcode yok; şema doğrulama; hata izolasyonu.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ue light&#10;&#10;AI-generated content may be incorrect.">
            <a:extLst>
              <a:ext uri="{FF2B5EF4-FFF2-40B4-BE49-F238E27FC236}">
                <a16:creationId xmlns:a16="http://schemas.microsoft.com/office/drawing/2014/main" id="{9A6401ED-1480-9089-86C7-4A855ED475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18"/>
            <a:ext cx="12207186" cy="68494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B8A0E2-B868-5286-1880-10CA33C63629}"/>
              </a:ext>
            </a:extLst>
          </p:cNvPr>
          <p:cNvSpPr txBox="1"/>
          <p:nvPr/>
        </p:nvSpPr>
        <p:spPr>
          <a:xfrm>
            <a:off x="4411086" y="2844225"/>
            <a:ext cx="3385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200" dirty="0">
                <a:solidFill>
                  <a:schemeClr val="bg1"/>
                </a:solidFill>
                <a:latin typeface="Gilmer Light" pitchFamily="2" charset="77"/>
              </a:rPr>
              <a:t>TEŞEKKÜRLER</a:t>
            </a:r>
            <a:endParaRPr lang="en-TR" sz="3200" dirty="0">
              <a:solidFill>
                <a:schemeClr val="bg1"/>
              </a:solidFill>
              <a:latin typeface="Gilmer Ligh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0C6AE-E3AA-023E-BA1D-BC52538E7A0B}"/>
              </a:ext>
            </a:extLst>
          </p:cNvPr>
          <p:cNvSpPr txBox="1"/>
          <p:nvPr/>
        </p:nvSpPr>
        <p:spPr>
          <a:xfrm>
            <a:off x="1801368" y="3639312"/>
            <a:ext cx="859536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Gilmer Medium"/>
              </a:rPr>
              <a:t>Büke — brief-exact, iki aşamalı MIP hattı</a:t>
            </a:r>
            <a:endParaRPr lang="en-TR" sz="3200" dirty="0">
              <a:solidFill>
                <a:schemeClr val="bg1"/>
              </a:solidFill>
              <a:latin typeface="Gilmer Bold" pitchFamily="2" charset="77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3E2"/>
                </a:solidFill>
                <a:latin typeface="Gilmer Light"/>
              </a:rPr>
              <a:t>+%4,72 · gap %1,18 · %23 uçuşta ort. 19 dk · doğrulayıcı tam PASS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93AB"/>
                </a:solidFill>
                <a:latin typeface="Gilmer Light"/>
              </a:rPr>
              <a:t>Melih Ekizce · Mustafa Eren Işıktaşlı · Serhat Özdemir · Mert Arı</a:t>
            </a:r>
          </a:p>
        </p:txBody>
      </p:sp>
      <p:pic>
        <p:nvPicPr>
          <p:cNvPr id="7" name="Picture 6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3E320C4A-D0EA-EB65-A9BF-E5E5DBD61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681" y="4991586"/>
            <a:ext cx="3648638" cy="477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lIns="18288" tIns="9144" rIns="18288" bIns="9144" anchor="t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C4D4"/>
                </a:solidFill>
                <a:latin typeface="Gilmer Medium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2898</TotalTime>
  <Words>2130</Words>
  <Application>Microsoft Office PowerPoint</Application>
  <PresentationFormat>Geniş ekran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Gilmer Bold</vt:lpstr>
      <vt:lpstr>Gilmer Light</vt:lpstr>
      <vt:lpstr>Gilmer Medium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TULAY OZGUR - Product Design Chapter</dc:creator>
  <cp:lastModifiedBy>Melih Ekizce</cp:lastModifiedBy>
  <cp:revision>21</cp:revision>
  <dcterms:created xsi:type="dcterms:W3CDTF">2026-03-02T11:08:53Z</dcterms:created>
  <dcterms:modified xsi:type="dcterms:W3CDTF">2026-08-08T19:44:56Z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8698d1-e7e4-420e-adb0-900f7f613ef2_Enabled">
    <vt:lpwstr>true</vt:lpwstr>
  </property>
  <property fmtid="{D5CDD505-2E9C-101B-9397-08002B2CF9AE}" pid="3" name="MSIP_Label_f38698d1-e7e4-420e-adb0-900f7f613ef2_SetDate">
    <vt:lpwstr>2026-08-07T10:31:44Z</vt:lpwstr>
  </property>
  <property fmtid="{D5CDD505-2E9C-101B-9397-08002B2CF9AE}" pid="4" name="MSIP_Label_f38698d1-e7e4-420e-adb0-900f7f613ef2_Method">
    <vt:lpwstr>Privileged</vt:lpwstr>
  </property>
  <property fmtid="{D5CDD505-2E9C-101B-9397-08002B2CF9AE}" pid="5" name="MSIP_Label_f38698d1-e7e4-420e-adb0-900f7f613ef2_Name">
    <vt:lpwstr>test-genel</vt:lpwstr>
  </property>
  <property fmtid="{D5CDD505-2E9C-101B-9397-08002B2CF9AE}" pid="6" name="MSIP_Label_f38698d1-e7e4-420e-adb0-900f7f613ef2_SiteId">
    <vt:lpwstr>745a1b8b-9958-4d1e-ac1c-f741f0ff4eba</vt:lpwstr>
  </property>
  <property fmtid="{D5CDD505-2E9C-101B-9397-08002B2CF9AE}" pid="7" name="MSIP_Label_f38698d1-e7e4-420e-adb0-900f7f613ef2_ActionId">
    <vt:lpwstr>d9d56957-6d18-4b72-9969-b1a073f6b2db</vt:lpwstr>
  </property>
  <property fmtid="{D5CDD505-2E9C-101B-9397-08002B2CF9AE}" pid="8" name="MSIP_Label_f38698d1-e7e4-420e-adb0-900f7f613ef2_ContentBits">
    <vt:lpwstr>1</vt:lpwstr>
  </property>
  <property fmtid="{D5CDD505-2E9C-101B-9397-08002B2CF9AE}" pid="9" name="MSIP_Label_f38698d1-e7e4-420e-adb0-900f7f613ef2_Tag">
    <vt:lpwstr>50, 0, 1, 1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Genel (Public)</vt:lpwstr>
  </property>
</Properties>
</file>